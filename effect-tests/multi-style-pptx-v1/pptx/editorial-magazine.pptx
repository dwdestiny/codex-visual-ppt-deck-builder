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w/Desktop/codex-visual-ppt-deck-builder/effect-tests/multi-style-pptx-v1/assets/background-editorial-magaz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713232"/>
            <a:ext cx="50840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9D334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</a:t>
            </a:r>
            <a:pPr indent="0" marL="0">
              <a:buNone/>
            </a:pPr>
            <a:r>
              <a:rPr lang="en-US" sz="2700" b="1" dirty="0">
                <a:solidFill>
                  <a:srgbClr val="F5EF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AI 内容商业观察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694944" y="1463040"/>
            <a:ext cx="4553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8B88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从流量实验到组织叙事能力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713232" y="1975104"/>
            <a:ext cx="420624" cy="420624"/>
          </a:xfrm>
          <a:prstGeom prst="ellipse">
            <a:avLst/>
          </a:prstGeom>
          <a:solidFill>
            <a:srgbClr val="9D3340">
              <a:alpha val="92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13232" y="2084832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</a:t>
            </a:r>
            <a:endParaRPr lang="en-US" sz="820" dirty="0"/>
          </a:p>
        </p:txBody>
      </p:sp>
      <p:sp>
        <p:nvSpPr>
          <p:cNvPr id="7" name="Text 4"/>
          <p:cNvSpPr/>
          <p:nvPr/>
        </p:nvSpPr>
        <p:spPr>
          <a:xfrm>
            <a:off x="1371600" y="19751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5EF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内容团队开始从数量转向质量结构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371600" y="228600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C7BBB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不只是提高产量，更重要的是把选题、资料、审稿和复盘变成稳定流程。</a:t>
            </a:r>
            <a:endParaRPr lang="en-US" sz="820" dirty="0"/>
          </a:p>
        </p:txBody>
      </p:sp>
      <p:sp>
        <p:nvSpPr>
          <p:cNvPr id="9" name="Shape 6"/>
          <p:cNvSpPr/>
          <p:nvPr/>
        </p:nvSpPr>
        <p:spPr>
          <a:xfrm>
            <a:off x="713232" y="2651760"/>
            <a:ext cx="420624" cy="420624"/>
          </a:xfrm>
          <a:prstGeom prst="ellipse">
            <a:avLst/>
          </a:prstGeom>
          <a:solidFill>
            <a:srgbClr val="D8B889">
              <a:alpha val="92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3232" y="2761488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</a:t>
            </a:r>
            <a:endParaRPr lang="en-US" sz="820" dirty="0"/>
          </a:p>
        </p:txBody>
      </p:sp>
      <p:sp>
        <p:nvSpPr>
          <p:cNvPr id="11" name="Text 8"/>
          <p:cNvSpPr/>
          <p:nvPr/>
        </p:nvSpPr>
        <p:spPr>
          <a:xfrm>
            <a:off x="1371600" y="26517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5EF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品牌叙事需要更强的证据密度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371600" y="296265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C7BBB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用户对空泛表达的耐心下降，观点、案例、数据和视觉节奏必须同时成立。</a:t>
            </a:r>
            <a:endParaRPr lang="en-US" sz="820" dirty="0"/>
          </a:p>
        </p:txBody>
      </p:sp>
      <p:sp>
        <p:nvSpPr>
          <p:cNvPr id="13" name="Shape 10"/>
          <p:cNvSpPr/>
          <p:nvPr/>
        </p:nvSpPr>
        <p:spPr>
          <a:xfrm>
            <a:off x="713232" y="3328416"/>
            <a:ext cx="420624" cy="420624"/>
          </a:xfrm>
          <a:prstGeom prst="ellipse">
            <a:avLst/>
          </a:prstGeom>
          <a:solidFill>
            <a:srgbClr val="6F7E8B">
              <a:alpha val="92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13232" y="3438144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</a:t>
            </a:r>
            <a:endParaRPr lang="en-US" sz="820" dirty="0"/>
          </a:p>
        </p:txBody>
      </p:sp>
      <p:sp>
        <p:nvSpPr>
          <p:cNvPr id="15" name="Text 12"/>
          <p:cNvSpPr/>
          <p:nvPr/>
        </p:nvSpPr>
        <p:spPr>
          <a:xfrm>
            <a:off x="1371600" y="332841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5EF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高质量素材库会成为复利资产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371600" y="36393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C7BBB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可复用图片、图表和页面模块让内容从单篇发布升级为长期运营。</a:t>
            </a:r>
            <a:endParaRPr lang="en-US" sz="820" dirty="0"/>
          </a:p>
        </p:txBody>
      </p:sp>
      <p:sp>
        <p:nvSpPr>
          <p:cNvPr id="17" name="Shape 14"/>
          <p:cNvSpPr/>
          <p:nvPr/>
        </p:nvSpPr>
        <p:spPr>
          <a:xfrm>
            <a:off x="329184" y="4782312"/>
            <a:ext cx="5276088" cy="0"/>
          </a:xfrm>
          <a:prstGeom prst="line">
            <a:avLst/>
          </a:prstGeom>
          <a:noFill/>
          <a:ln w="12700">
            <a:solidFill>
              <a:srgbClr val="6A625C">
                <a:alpha val="76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86384" y="5010912"/>
            <a:ext cx="1301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D8B88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57%</a:t>
            </a:r>
            <a:endParaRPr lang="en-US" sz="1820" dirty="0"/>
          </a:p>
        </p:txBody>
      </p:sp>
      <p:sp>
        <p:nvSpPr>
          <p:cNvPr id="19" name="Text 16"/>
          <p:cNvSpPr/>
          <p:nvPr/>
        </p:nvSpPr>
        <p:spPr>
          <a:xfrm>
            <a:off x="786384" y="5422392"/>
            <a:ext cx="1301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8CFC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选题复用</a:t>
            </a:r>
            <a:endParaRPr lang="en-US" sz="700" dirty="0"/>
          </a:p>
        </p:txBody>
      </p:sp>
      <p:sp>
        <p:nvSpPr>
          <p:cNvPr id="20" name="Shape 17"/>
          <p:cNvSpPr/>
          <p:nvPr/>
        </p:nvSpPr>
        <p:spPr>
          <a:xfrm>
            <a:off x="1359408" y="5678424"/>
            <a:ext cx="292608" cy="292608"/>
          </a:xfrm>
          <a:prstGeom prst="ellipse">
            <a:avLst/>
          </a:prstGeom>
          <a:solidFill>
            <a:srgbClr val="D8B889">
              <a:alpha val="42000"/>
            </a:srgbClr>
          </a:solidFill>
          <a:ln w="12700">
            <a:solidFill>
              <a:srgbClr val="1F1C1A">
                <a:alpha val="80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115312" y="5065776"/>
            <a:ext cx="0" cy="749808"/>
          </a:xfrm>
          <a:prstGeom prst="line">
            <a:avLst/>
          </a:prstGeom>
          <a:noFill/>
          <a:ln w="12700">
            <a:solidFill>
              <a:srgbClr val="6A625C">
                <a:alpha val="62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225040" y="5010912"/>
            <a:ext cx="1301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5EF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2.8x</a:t>
            </a:r>
            <a:endParaRPr lang="en-US" sz="1820" dirty="0"/>
          </a:p>
        </p:txBody>
      </p:sp>
      <p:sp>
        <p:nvSpPr>
          <p:cNvPr id="23" name="Text 20"/>
          <p:cNvSpPr/>
          <p:nvPr/>
        </p:nvSpPr>
        <p:spPr>
          <a:xfrm>
            <a:off x="2225040" y="5422392"/>
            <a:ext cx="1301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8CFC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审稿提速</a:t>
            </a:r>
            <a:endParaRPr lang="en-US" sz="700" dirty="0"/>
          </a:p>
        </p:txBody>
      </p:sp>
      <p:sp>
        <p:nvSpPr>
          <p:cNvPr id="24" name="Shape 21"/>
          <p:cNvSpPr/>
          <p:nvPr/>
        </p:nvSpPr>
        <p:spPr>
          <a:xfrm>
            <a:off x="2798064" y="5678424"/>
            <a:ext cx="292608" cy="292608"/>
          </a:xfrm>
          <a:prstGeom prst="ellipse">
            <a:avLst/>
          </a:prstGeom>
          <a:solidFill>
            <a:srgbClr val="F5EFE6">
              <a:alpha val="42000"/>
            </a:srgbClr>
          </a:solidFill>
          <a:ln w="12700">
            <a:solidFill>
              <a:srgbClr val="1F1C1A">
                <a:alpha val="8000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553968" y="5065776"/>
            <a:ext cx="0" cy="749808"/>
          </a:xfrm>
          <a:prstGeom prst="line">
            <a:avLst/>
          </a:prstGeom>
          <a:noFill/>
          <a:ln w="12700">
            <a:solidFill>
              <a:srgbClr val="6A625C">
                <a:alpha val="62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663696" y="5010912"/>
            <a:ext cx="1301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9D334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</a:t>
            </a:r>
            <a:endParaRPr lang="en-US" sz="1820" dirty="0"/>
          </a:p>
        </p:txBody>
      </p:sp>
      <p:sp>
        <p:nvSpPr>
          <p:cNvPr id="27" name="Text 24"/>
          <p:cNvSpPr/>
          <p:nvPr/>
        </p:nvSpPr>
        <p:spPr>
          <a:xfrm>
            <a:off x="3663696" y="5422392"/>
            <a:ext cx="1301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8CFC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内容复利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4236720" y="5678424"/>
            <a:ext cx="292608" cy="292608"/>
          </a:xfrm>
          <a:prstGeom prst="ellipse">
            <a:avLst/>
          </a:prstGeom>
          <a:solidFill>
            <a:srgbClr val="9D3340">
              <a:alpha val="42000"/>
            </a:srgbClr>
          </a:solidFill>
          <a:ln w="12700">
            <a:solidFill>
              <a:srgbClr val="1F1C1A">
                <a:alpha val="8000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760720" y="8229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F5EF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内容资产复利指数</a:t>
            </a:r>
            <a:endParaRPr lang="en-US" sz="1140" dirty="0"/>
          </a:p>
        </p:txBody>
      </p:sp>
      <p:sp>
        <p:nvSpPr>
          <p:cNvPr id="30" name="Shape 27"/>
          <p:cNvSpPr/>
          <p:nvPr/>
        </p:nvSpPr>
        <p:spPr>
          <a:xfrm>
            <a:off x="5760720" y="1207008"/>
            <a:ext cx="292608" cy="0"/>
          </a:xfrm>
          <a:prstGeom prst="line">
            <a:avLst/>
          </a:prstGeom>
          <a:noFill/>
          <a:ln w="12700">
            <a:solidFill>
              <a:srgbClr val="9D334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971032" y="3813048"/>
            <a:ext cx="3575304" cy="0"/>
          </a:xfrm>
          <a:prstGeom prst="line">
            <a:avLst/>
          </a:prstGeom>
          <a:noFill/>
          <a:ln w="12700">
            <a:solidFill>
              <a:srgbClr val="A99B8D">
                <a:alpha val="7400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641848" y="3749040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C62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</a:t>
            </a:r>
            <a:endParaRPr lang="en-US" sz="650" dirty="0"/>
          </a:p>
        </p:txBody>
      </p:sp>
      <p:sp>
        <p:nvSpPr>
          <p:cNvPr id="33" name="Shape 30"/>
          <p:cNvSpPr/>
          <p:nvPr/>
        </p:nvSpPr>
        <p:spPr>
          <a:xfrm>
            <a:off x="5971032" y="3257550"/>
            <a:ext cx="3575304" cy="0"/>
          </a:xfrm>
          <a:prstGeom prst="line">
            <a:avLst/>
          </a:prstGeom>
          <a:noFill/>
          <a:ln w="12700">
            <a:solidFill>
              <a:srgbClr val="A99B8D">
                <a:alpha val="4200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641848" y="3193542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C62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25</a:t>
            </a:r>
            <a:endParaRPr lang="en-US" sz="650" dirty="0"/>
          </a:p>
        </p:txBody>
      </p:sp>
      <p:sp>
        <p:nvSpPr>
          <p:cNvPr id="35" name="Shape 32"/>
          <p:cNvSpPr/>
          <p:nvPr/>
        </p:nvSpPr>
        <p:spPr>
          <a:xfrm>
            <a:off x="5971032" y="2702052"/>
            <a:ext cx="3575304" cy="0"/>
          </a:xfrm>
          <a:prstGeom prst="line">
            <a:avLst/>
          </a:prstGeom>
          <a:noFill/>
          <a:ln w="12700">
            <a:solidFill>
              <a:srgbClr val="A99B8D">
                <a:alpha val="4200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641848" y="2638044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C62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50</a:t>
            </a:r>
            <a:endParaRPr lang="en-US" sz="650" dirty="0"/>
          </a:p>
        </p:txBody>
      </p:sp>
      <p:sp>
        <p:nvSpPr>
          <p:cNvPr id="37" name="Shape 34"/>
          <p:cNvSpPr/>
          <p:nvPr/>
        </p:nvSpPr>
        <p:spPr>
          <a:xfrm>
            <a:off x="5971032" y="2146554"/>
            <a:ext cx="3575304" cy="0"/>
          </a:xfrm>
          <a:prstGeom prst="line">
            <a:avLst/>
          </a:prstGeom>
          <a:noFill/>
          <a:ln w="12700">
            <a:solidFill>
              <a:srgbClr val="A99B8D">
                <a:alpha val="4200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641848" y="2082546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C62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75</a:t>
            </a:r>
            <a:endParaRPr lang="en-US" sz="650" dirty="0"/>
          </a:p>
        </p:txBody>
      </p:sp>
      <p:sp>
        <p:nvSpPr>
          <p:cNvPr id="39" name="Shape 36"/>
          <p:cNvSpPr/>
          <p:nvPr/>
        </p:nvSpPr>
        <p:spPr>
          <a:xfrm>
            <a:off x="5971032" y="1591056"/>
            <a:ext cx="3575304" cy="0"/>
          </a:xfrm>
          <a:prstGeom prst="line">
            <a:avLst/>
          </a:prstGeom>
          <a:noFill/>
          <a:ln w="12700">
            <a:solidFill>
              <a:srgbClr val="A99B8D">
                <a:alpha val="4200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641848" y="1527048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C62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100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6262154" y="2754447"/>
            <a:ext cx="311582" cy="1058601"/>
          </a:xfrm>
          <a:prstGeom prst="rect">
            <a:avLst/>
          </a:prstGeom>
          <a:solidFill>
            <a:srgbClr val="9D3340">
              <a:alpha val="92000"/>
            </a:srgbClr>
          </a:solidFill>
          <a:ln w="12700">
            <a:solidFill>
              <a:srgbClr val="9D3340">
                <a:alpha val="0"/>
              </a:srgbClr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152426" y="2516703"/>
            <a:ext cx="53103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B27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51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5998464" y="3941064"/>
            <a:ext cx="8389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2B27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选题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B27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池</a:t>
            </a:r>
            <a:endParaRPr lang="en-US" sz="700" dirty="0"/>
          </a:p>
        </p:txBody>
      </p:sp>
      <p:sp>
        <p:nvSpPr>
          <p:cNvPr id="44" name="Shape 41"/>
          <p:cNvSpPr/>
          <p:nvPr/>
        </p:nvSpPr>
        <p:spPr>
          <a:xfrm>
            <a:off x="7155980" y="2505365"/>
            <a:ext cx="311582" cy="1307683"/>
          </a:xfrm>
          <a:prstGeom prst="rect">
            <a:avLst/>
          </a:prstGeom>
          <a:solidFill>
            <a:srgbClr val="C45F54">
              <a:alpha val="92000"/>
            </a:srgbClr>
          </a:solidFill>
          <a:ln w="12700">
            <a:solidFill>
              <a:srgbClr val="C45F54">
                <a:alpha val="0"/>
              </a:srgbClr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7046252" y="2267621"/>
            <a:ext cx="53103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B27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63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6892290" y="3941064"/>
            <a:ext cx="8389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2B27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资料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B27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库</a:t>
            </a:r>
            <a:endParaRPr lang="en-US" sz="700" dirty="0"/>
          </a:p>
        </p:txBody>
      </p:sp>
      <p:sp>
        <p:nvSpPr>
          <p:cNvPr id="47" name="Shape 44"/>
          <p:cNvSpPr/>
          <p:nvPr/>
        </p:nvSpPr>
        <p:spPr>
          <a:xfrm>
            <a:off x="8049806" y="2173254"/>
            <a:ext cx="311582" cy="1639794"/>
          </a:xfrm>
          <a:prstGeom prst="rect">
            <a:avLst/>
          </a:prstGeom>
          <a:solidFill>
            <a:srgbClr val="D8B889">
              <a:alpha val="92000"/>
            </a:srgbClr>
          </a:solidFill>
          <a:ln w="12700">
            <a:solidFill>
              <a:srgbClr val="D8B889">
                <a:alpha val="0"/>
              </a:srgbClr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7940078" y="1935510"/>
            <a:ext cx="53103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B27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79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7786116" y="3941064"/>
            <a:ext cx="8389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2B27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视觉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B27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资产</a:t>
            </a:r>
            <a:endParaRPr lang="en-US" sz="700" dirty="0"/>
          </a:p>
        </p:txBody>
      </p:sp>
      <p:sp>
        <p:nvSpPr>
          <p:cNvPr id="50" name="Shape 47"/>
          <p:cNvSpPr/>
          <p:nvPr/>
        </p:nvSpPr>
        <p:spPr>
          <a:xfrm>
            <a:off x="8943632" y="1944929"/>
            <a:ext cx="311582" cy="1868119"/>
          </a:xfrm>
          <a:prstGeom prst="rect">
            <a:avLst/>
          </a:prstGeom>
          <a:solidFill>
            <a:srgbClr val="6F7E8B">
              <a:alpha val="92000"/>
            </a:srgbClr>
          </a:solidFill>
          <a:ln w="12700">
            <a:solidFill>
              <a:srgbClr val="6F7E8B">
                <a:alpha val="0"/>
              </a:srgbClr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8833904" y="1707185"/>
            <a:ext cx="53103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B27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90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8679942" y="3941064"/>
            <a:ext cx="8389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2B27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复盘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B27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机制</a:t>
            </a:r>
            <a:endParaRPr lang="en-US" sz="700" dirty="0"/>
          </a:p>
        </p:txBody>
      </p:sp>
      <p:sp>
        <p:nvSpPr>
          <p:cNvPr id="53" name="Shape 50"/>
          <p:cNvSpPr/>
          <p:nvPr/>
        </p:nvSpPr>
        <p:spPr>
          <a:xfrm>
            <a:off x="6417945" y="2900751"/>
            <a:ext cx="893826" cy="-249083"/>
          </a:xfrm>
          <a:prstGeom prst="line">
            <a:avLst/>
          </a:prstGeom>
          <a:noFill/>
          <a:ln w="12700">
            <a:solidFill>
              <a:srgbClr val="9D3340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7311771" y="2651669"/>
            <a:ext cx="893826" cy="-332110"/>
          </a:xfrm>
          <a:prstGeom prst="line">
            <a:avLst/>
          </a:prstGeom>
          <a:noFill/>
          <a:ln w="12700">
            <a:solidFill>
              <a:srgbClr val="9D3340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8205597" y="2319558"/>
            <a:ext cx="893826" cy="-228326"/>
          </a:xfrm>
          <a:prstGeom prst="line">
            <a:avLst/>
          </a:prstGeom>
          <a:noFill/>
          <a:ln w="12700">
            <a:solidFill>
              <a:srgbClr val="9D3340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6363081" y="2845887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D3340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7256907" y="2596805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D3340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8150733" y="2264694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D3340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9044559" y="2036369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D3340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6455664" y="4343400"/>
            <a:ext cx="32552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0" dirty="0">
                <a:solidFill>
                  <a:srgbClr val="756B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示例数据，仅用于视觉样张</a:t>
            </a:r>
            <a:endParaRPr lang="en-US" sz="520" dirty="0"/>
          </a:p>
        </p:txBody>
      </p:sp>
      <p:sp>
        <p:nvSpPr>
          <p:cNvPr id="61" name="Text 58"/>
          <p:cNvSpPr/>
          <p:nvPr/>
        </p:nvSpPr>
        <p:spPr>
          <a:xfrm>
            <a:off x="10881360" y="645566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BBB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1/1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Codex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AI 内容商业观察</dc:title>
  <dc:subject>从流量实验到组织叙事能力</dc:subject>
  <dc:creator>Codex</dc:creator>
  <cp:lastModifiedBy>Codex</cp:lastModifiedBy>
  <cp:revision>1</cp:revision>
  <dcterms:created xsi:type="dcterms:W3CDTF">2026-05-07T12:46:02Z</dcterms:created>
  <dcterms:modified xsi:type="dcterms:W3CDTF">2026-05-07T12:46:02Z</dcterms:modified>
</cp:coreProperties>
</file>