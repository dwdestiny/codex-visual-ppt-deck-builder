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1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5836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9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应用趋势调研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49808" y="12984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从工具试点到组织级智能化</a:t>
            </a:r>
            <a:endParaRPr lang="en-US" sz="1240" dirty="0"/>
          </a:p>
        </p:txBody>
      </p:sp>
      <p:sp>
        <p:nvSpPr>
          <p:cNvPr id="5" name="Text 2"/>
          <p:cNvSpPr/>
          <p:nvPr/>
        </p:nvSpPr>
        <p:spPr>
          <a:xfrm>
            <a:off x="5074920" y="8961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 AI 应用成熟度指数</a:t>
            </a:r>
            <a:endParaRPr lang="en-US" sz="1180" dirty="0"/>
          </a:p>
        </p:txBody>
      </p:sp>
      <p:sp>
        <p:nvSpPr>
          <p:cNvPr id="6" name="Shape 3"/>
          <p:cNvSpPr/>
          <p:nvPr/>
        </p:nvSpPr>
        <p:spPr>
          <a:xfrm>
            <a:off x="5074920" y="1280160"/>
            <a:ext cx="292608" cy="0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66360" y="4572000"/>
            <a:ext cx="4453128" cy="0"/>
          </a:xfrm>
          <a:prstGeom prst="line">
            <a:avLst/>
          </a:prstGeom>
          <a:noFill/>
          <a:ln w="12700">
            <a:solidFill>
              <a:srgbClr val="456B9D">
                <a:alpha val="8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37176" y="45079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660" dirty="0"/>
          </a:p>
        </p:txBody>
      </p:sp>
      <p:sp>
        <p:nvSpPr>
          <p:cNvPr id="9" name="Shape 6"/>
          <p:cNvSpPr/>
          <p:nvPr/>
        </p:nvSpPr>
        <p:spPr>
          <a:xfrm>
            <a:off x="5166360" y="3863340"/>
            <a:ext cx="4453128" cy="0"/>
          </a:xfrm>
          <a:prstGeom prst="line">
            <a:avLst/>
          </a:prstGeom>
          <a:noFill/>
          <a:ln w="12700">
            <a:solidFill>
              <a:srgbClr val="456B9D">
                <a:alpha val="4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7176" y="379933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660" dirty="0"/>
          </a:p>
        </p:txBody>
      </p:sp>
      <p:sp>
        <p:nvSpPr>
          <p:cNvPr id="11" name="Shape 8"/>
          <p:cNvSpPr/>
          <p:nvPr/>
        </p:nvSpPr>
        <p:spPr>
          <a:xfrm>
            <a:off x="5166360" y="3154680"/>
            <a:ext cx="4453128" cy="0"/>
          </a:xfrm>
          <a:prstGeom prst="line">
            <a:avLst/>
          </a:prstGeom>
          <a:noFill/>
          <a:ln w="12700">
            <a:solidFill>
              <a:srgbClr val="456B9D">
                <a:alpha val="4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37176" y="309067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5166360" y="2446020"/>
            <a:ext cx="4453128" cy="0"/>
          </a:xfrm>
          <a:prstGeom prst="line">
            <a:avLst/>
          </a:prstGeom>
          <a:noFill/>
          <a:ln w="12700">
            <a:solidFill>
              <a:srgbClr val="456B9D">
                <a:alpha val="4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37176" y="2382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660" dirty="0"/>
          </a:p>
        </p:txBody>
      </p:sp>
      <p:sp>
        <p:nvSpPr>
          <p:cNvPr id="15" name="Shape 12"/>
          <p:cNvSpPr/>
          <p:nvPr/>
        </p:nvSpPr>
        <p:spPr>
          <a:xfrm>
            <a:off x="5166360" y="1737360"/>
            <a:ext cx="4453128" cy="0"/>
          </a:xfrm>
          <a:prstGeom prst="line">
            <a:avLst/>
          </a:prstGeom>
          <a:noFill/>
          <a:ln w="12700">
            <a:solidFill>
              <a:srgbClr val="456B9D">
                <a:alpha val="4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37176" y="1673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660" dirty="0"/>
          </a:p>
        </p:txBody>
      </p:sp>
      <p:sp>
        <p:nvSpPr>
          <p:cNvPr id="17" name="Shape 14"/>
          <p:cNvSpPr/>
          <p:nvPr/>
        </p:nvSpPr>
        <p:spPr>
          <a:xfrm>
            <a:off x="5503568" y="3120299"/>
            <a:ext cx="438866" cy="1451701"/>
          </a:xfrm>
          <a:prstGeom prst="rect">
            <a:avLst/>
          </a:prstGeom>
          <a:solidFill>
            <a:srgbClr val="2BD3FF">
              <a:alpha val="86000"/>
            </a:srgbClr>
          </a:solidFill>
          <a:ln w="12700">
            <a:solidFill>
              <a:srgbClr val="2BD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3840" y="2882555"/>
            <a:ext cx="6583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5193792" y="4700016"/>
            <a:ext cx="1058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616850" y="2743932"/>
            <a:ext cx="438866" cy="1828068"/>
          </a:xfrm>
          <a:prstGeom prst="rect">
            <a:avLst/>
          </a:prstGeom>
          <a:solidFill>
            <a:srgbClr val="4E8DFF">
              <a:alpha val="86000"/>
            </a:srgbClr>
          </a:solidFill>
          <a:ln w="12700">
            <a:solidFill>
              <a:srgbClr val="4E8D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07122" y="2506188"/>
            <a:ext cx="6583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6307074" y="4700016"/>
            <a:ext cx="1058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730132" y="2528865"/>
            <a:ext cx="438866" cy="2043135"/>
          </a:xfrm>
          <a:prstGeom prst="rect">
            <a:avLst/>
          </a:prstGeom>
          <a:solidFill>
            <a:srgbClr val="8D6BFF">
              <a:alpha val="86000"/>
            </a:srgbClr>
          </a:solidFill>
          <a:ln w="12700">
            <a:solidFill>
              <a:srgbClr val="8D6B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20404" y="2291121"/>
            <a:ext cx="6583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7420356" y="4700016"/>
            <a:ext cx="1058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843414" y="2125614"/>
            <a:ext cx="438866" cy="2446386"/>
          </a:xfrm>
          <a:prstGeom prst="rect">
            <a:avLst/>
          </a:prstGeom>
          <a:solidFill>
            <a:srgbClr val="16E0B3">
              <a:alpha val="86000"/>
            </a:srgbClr>
          </a:solidFill>
          <a:ln w="12700">
            <a:solidFill>
              <a:srgbClr val="16E0B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33686" y="1887870"/>
            <a:ext cx="6583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8533638" y="4700016"/>
            <a:ext cx="1058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723001" y="3266603"/>
            <a:ext cx="1113282" cy="-376367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36283" y="2890236"/>
            <a:ext cx="1113282" cy="-215067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49565" y="2675169"/>
            <a:ext cx="1113282" cy="-403250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8137" y="3211739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81419" y="283537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94701" y="262030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07983" y="221705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50992" y="5102352"/>
            <a:ext cx="4133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8EA6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40" dirty="0"/>
          </a:p>
        </p:txBody>
      </p:sp>
      <p:sp>
        <p:nvSpPr>
          <p:cNvPr id="37" name="Shape 34"/>
          <p:cNvSpPr/>
          <p:nvPr/>
        </p:nvSpPr>
        <p:spPr>
          <a:xfrm>
            <a:off x="804672" y="2029968"/>
            <a:ext cx="0" cy="2212848"/>
          </a:xfrm>
          <a:prstGeom prst="line">
            <a:avLst/>
          </a:prstGeom>
          <a:noFill/>
          <a:ln w="12700">
            <a:solidFill>
              <a:srgbClr val="2BD3FF">
                <a:alpha val="6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" y="2185416"/>
            <a:ext cx="384048" cy="0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07592" y="20665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1737360" y="20482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应用从单点工具转向业务流程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307592" y="2368296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开始进入客服、营销、研发、知识库等连续链路，价值不再停留在个人提效。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804672" y="2843784"/>
            <a:ext cx="384048" cy="0"/>
          </a:xfrm>
          <a:prstGeom prst="line">
            <a:avLst/>
          </a:prstGeom>
          <a:noFill/>
          <a:ln w="12700">
            <a:solidFill>
              <a:srgbClr val="8D6B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307592" y="27249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D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60" dirty="0"/>
          </a:p>
        </p:txBody>
      </p:sp>
      <p:sp>
        <p:nvSpPr>
          <p:cNvPr id="44" name="Text 41"/>
          <p:cNvSpPr/>
          <p:nvPr/>
        </p:nvSpPr>
        <p:spPr>
          <a:xfrm>
            <a:off x="1737360" y="270662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数据与治理成为商业化分水岭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307592" y="30266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权限、审查、知识沉淀和指标口径决定 AI 能否被稳定复制到更多团队。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804672" y="3502152"/>
            <a:ext cx="384048" cy="0"/>
          </a:xfrm>
          <a:prstGeom prst="line">
            <a:avLst/>
          </a:prstGeom>
          <a:noFill/>
          <a:ln w="12700">
            <a:solidFill>
              <a:srgbClr val="16E0B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307592" y="33832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6E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60" dirty="0"/>
          </a:p>
        </p:txBody>
      </p:sp>
      <p:sp>
        <p:nvSpPr>
          <p:cNvPr id="48" name="Text 45"/>
          <p:cNvSpPr/>
          <p:nvPr/>
        </p:nvSpPr>
        <p:spPr>
          <a:xfrm>
            <a:off x="1737360" y="336499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管理层关注从热度转向回报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307592" y="368503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年的关键问题会变成周期缩短、质量稳定和组织学习速度。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804672" y="5175504"/>
            <a:ext cx="4160520" cy="0"/>
          </a:xfrm>
          <a:prstGeom prst="line">
            <a:avLst/>
          </a:prstGeom>
          <a:noFill/>
          <a:ln w="12700">
            <a:solidFill>
              <a:srgbClr val="456B9D">
                <a:alpha val="6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4672" y="5852160"/>
            <a:ext cx="471526" cy="0"/>
          </a:xfrm>
          <a:prstGeom prst="line">
            <a:avLst/>
          </a:prstGeom>
          <a:noFill/>
          <a:ln w="12700">
            <a:solidFill>
              <a:srgbClr val="2BD3FF">
                <a:alpha val="88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5266944"/>
            <a:ext cx="1277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1760" dirty="0"/>
          </a:p>
        </p:txBody>
      </p:sp>
      <p:sp>
        <p:nvSpPr>
          <p:cNvPr id="53" name="Text 50"/>
          <p:cNvSpPr/>
          <p:nvPr/>
        </p:nvSpPr>
        <p:spPr>
          <a:xfrm>
            <a:off x="804672" y="5623560"/>
            <a:ext cx="1277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流程嵌入</a:t>
            </a:r>
            <a:endParaRPr lang="en-US" sz="690" dirty="0"/>
          </a:p>
        </p:txBody>
      </p:sp>
      <p:sp>
        <p:nvSpPr>
          <p:cNvPr id="54" name="Shape 51"/>
          <p:cNvSpPr/>
          <p:nvPr/>
        </p:nvSpPr>
        <p:spPr>
          <a:xfrm>
            <a:off x="2191512" y="5852160"/>
            <a:ext cx="471526" cy="0"/>
          </a:xfrm>
          <a:prstGeom prst="line">
            <a:avLst/>
          </a:prstGeom>
          <a:noFill/>
          <a:ln w="12700">
            <a:solidFill>
              <a:srgbClr val="8D6BFF">
                <a:alpha val="88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191512" y="5266944"/>
            <a:ext cx="1277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b="1" dirty="0">
                <a:solidFill>
                  <a:srgbClr val="8D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2.4x</a:t>
            </a:r>
            <a:endParaRPr lang="en-US" sz="1760" dirty="0"/>
          </a:p>
        </p:txBody>
      </p:sp>
      <p:sp>
        <p:nvSpPr>
          <p:cNvPr id="56" name="Text 53"/>
          <p:cNvSpPr/>
          <p:nvPr/>
        </p:nvSpPr>
        <p:spPr>
          <a:xfrm>
            <a:off x="2191512" y="5623560"/>
            <a:ext cx="1277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协同提效</a:t>
            </a:r>
            <a:endParaRPr lang="en-US" sz="690" dirty="0"/>
          </a:p>
        </p:txBody>
      </p:sp>
      <p:sp>
        <p:nvSpPr>
          <p:cNvPr id="57" name="Shape 54"/>
          <p:cNvSpPr/>
          <p:nvPr/>
        </p:nvSpPr>
        <p:spPr>
          <a:xfrm>
            <a:off x="3578352" y="5852160"/>
            <a:ext cx="471526" cy="0"/>
          </a:xfrm>
          <a:prstGeom prst="line">
            <a:avLst/>
          </a:prstGeom>
          <a:noFill/>
          <a:ln w="12700">
            <a:solidFill>
              <a:srgbClr val="16E0B3">
                <a:alpha val="88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578352" y="5266944"/>
            <a:ext cx="1277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b="1" dirty="0">
                <a:solidFill>
                  <a:srgbClr val="16E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760" dirty="0"/>
          </a:p>
        </p:txBody>
      </p:sp>
      <p:sp>
        <p:nvSpPr>
          <p:cNvPr id="59" name="Text 56"/>
          <p:cNvSpPr/>
          <p:nvPr/>
        </p:nvSpPr>
        <p:spPr>
          <a:xfrm>
            <a:off x="3578352" y="5623560"/>
            <a:ext cx="1277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规模窗口</a:t>
            </a:r>
            <a:endParaRPr lang="en-US" sz="690" dirty="0"/>
          </a:p>
        </p:txBody>
      </p:sp>
      <p:sp>
        <p:nvSpPr>
          <p:cNvPr id="60" name="Text 57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F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</dc:title>
  <dc:subject>企业级智能化进入规模落地窗口</dc:subject>
  <dc:creator>Codex</dc:creator>
  <cp:lastModifiedBy>Codex</cp:lastModifiedBy>
  <cp:revision>1</cp:revision>
  <dcterms:created xsi:type="dcterms:W3CDTF">2026-05-07T13:41:45Z</dcterms:created>
  <dcterms:modified xsi:type="dcterms:W3CDTF">2026-05-07T13:41:45Z</dcterms:modified>
</cp:coreProperties>
</file>