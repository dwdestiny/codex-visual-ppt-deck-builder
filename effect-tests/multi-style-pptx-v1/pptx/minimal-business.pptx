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1/assets/background-minimal-busi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71323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pPr indent="0" marL="0">
              <a:buNone/>
            </a:pPr>
            <a:r>
              <a:rPr lang="en-US" sz="280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AI 组织效率调研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13898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3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从工具采购到流程重构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68096" y="1920240"/>
            <a:ext cx="420624" cy="420624"/>
          </a:xfrm>
          <a:prstGeom prst="ellipse">
            <a:avLst/>
          </a:prstGeom>
          <a:solidFill>
            <a:srgbClr val="007A78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20299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1426464" y="19202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管理口径从成本转向产出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1426464" y="22311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项目开始用周期缩短、交付质量和知识沉淀来衡量，而不再只看工具覆盖率。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768096" y="2596896"/>
            <a:ext cx="420624" cy="420624"/>
          </a:xfrm>
          <a:prstGeom prst="ellipse">
            <a:avLst/>
          </a:prstGeom>
          <a:solidFill>
            <a:srgbClr val="5A6E73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7066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10" dirty="0"/>
          </a:p>
        </p:txBody>
      </p:sp>
      <p:sp>
        <p:nvSpPr>
          <p:cNvPr id="11" name="Text 8"/>
          <p:cNvSpPr/>
          <p:nvPr/>
        </p:nvSpPr>
        <p:spPr>
          <a:xfrm>
            <a:off x="1426464" y="25968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流程嵌入决定复利速度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1426464" y="290779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真正拉开差距的是把 AI 放进审批、客服、研发和内容生产的连续动作里。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768096" y="3273552"/>
            <a:ext cx="420624" cy="420624"/>
          </a:xfrm>
          <a:prstGeom prst="ellipse">
            <a:avLst/>
          </a:prstGeom>
          <a:solidFill>
            <a:srgbClr val="B38E52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3832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10" dirty="0"/>
          </a:p>
        </p:txBody>
      </p:sp>
      <p:sp>
        <p:nvSpPr>
          <p:cNvPr id="15" name="Text 12"/>
          <p:cNvSpPr/>
          <p:nvPr/>
        </p:nvSpPr>
        <p:spPr>
          <a:xfrm>
            <a:off x="1426464" y="32735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治理能力成为扩张前提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1426464" y="35844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权限、审查、来源记录和复盘机制会决定组织能否稳定复制经验。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384048" y="4800600"/>
            <a:ext cx="5404104" cy="0"/>
          </a:xfrm>
          <a:prstGeom prst="line">
            <a:avLst/>
          </a:prstGeom>
          <a:noFill/>
          <a:ln w="12700">
            <a:solidFill>
              <a:srgbClr val="AEBABC">
                <a:alpha val="6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502920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7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31%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841248" y="54406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F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周期下降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1435608" y="5696712"/>
            <a:ext cx="292608" cy="292608"/>
          </a:xfrm>
          <a:prstGeom prst="ellipse">
            <a:avLst/>
          </a:prstGeom>
          <a:solidFill>
            <a:srgbClr val="007A78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12848" y="5084064"/>
            <a:ext cx="0" cy="749808"/>
          </a:xfrm>
          <a:prstGeom prst="line">
            <a:avLst/>
          </a:prstGeom>
          <a:noFill/>
          <a:ln w="12700">
            <a:solidFill>
              <a:srgbClr val="AEBABC">
                <a:alpha val="54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22576" y="502920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3D6F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2.1x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2322576" y="54406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F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知识复用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2916936" y="5696712"/>
            <a:ext cx="292608" cy="292608"/>
          </a:xfrm>
          <a:prstGeom prst="ellipse">
            <a:avLst/>
          </a:prstGeom>
          <a:solidFill>
            <a:srgbClr val="3D6F73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94176" y="5084064"/>
            <a:ext cx="0" cy="749808"/>
          </a:xfrm>
          <a:prstGeom prst="line">
            <a:avLst/>
          </a:prstGeom>
          <a:noFill/>
          <a:ln w="12700">
            <a:solidFill>
              <a:srgbClr val="AEBABC">
                <a:alpha val="54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03904" y="502920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B38E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3803904" y="54406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F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规模窗口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4398264" y="5696712"/>
            <a:ext cx="292608" cy="292608"/>
          </a:xfrm>
          <a:prstGeom prst="ellipse">
            <a:avLst/>
          </a:prstGeom>
          <a:solidFill>
            <a:srgbClr val="B38E52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9875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 AI 成熟度指数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6236208" y="1371600"/>
            <a:ext cx="292608" cy="0"/>
          </a:xfrm>
          <a:prstGeom prst="line">
            <a:avLst/>
          </a:prstGeom>
          <a:noFill/>
          <a:ln w="12700">
            <a:solidFill>
              <a:srgbClr val="007A7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64808" y="4334256"/>
            <a:ext cx="3749040" cy="0"/>
          </a:xfrm>
          <a:prstGeom prst="line">
            <a:avLst/>
          </a:prstGeom>
          <a:noFill/>
          <a:ln w="12700">
            <a:solidFill>
              <a:srgbClr val="B9C2C4">
                <a:alpha val="72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35624" y="427024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08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6464808" y="3703320"/>
            <a:ext cx="3749040" cy="0"/>
          </a:xfrm>
          <a:prstGeom prst="line">
            <a:avLst/>
          </a:prstGeom>
          <a:noFill/>
          <a:ln w="12700">
            <a:solidFill>
              <a:srgbClr val="B9C2C4">
                <a:alpha val="38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35624" y="36393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08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6464808" y="3072384"/>
            <a:ext cx="3749040" cy="0"/>
          </a:xfrm>
          <a:prstGeom prst="line">
            <a:avLst/>
          </a:prstGeom>
          <a:noFill/>
          <a:ln w="12700">
            <a:solidFill>
              <a:srgbClr val="B9C2C4">
                <a:alpha val="38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35624" y="30083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08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464808" y="2441448"/>
            <a:ext cx="3749040" cy="0"/>
          </a:xfrm>
          <a:prstGeom prst="line">
            <a:avLst/>
          </a:prstGeom>
          <a:noFill/>
          <a:ln w="12700">
            <a:solidFill>
              <a:srgbClr val="B9C2C4">
                <a:alpha val="3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35624" y="237744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08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6464808" y="1810512"/>
            <a:ext cx="3749040" cy="0"/>
          </a:xfrm>
          <a:prstGeom prst="line">
            <a:avLst/>
          </a:prstGeom>
          <a:noFill/>
          <a:ln w="12700">
            <a:solidFill>
              <a:srgbClr val="B9C2C4">
                <a:alpha val="38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35624" y="17465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08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6765051" y="3097987"/>
            <a:ext cx="336774" cy="1236269"/>
          </a:xfrm>
          <a:prstGeom prst="rect">
            <a:avLst/>
          </a:prstGeom>
          <a:solidFill>
            <a:srgbClr val="007A78">
              <a:alpha val="88000"/>
            </a:srgbClr>
          </a:solidFill>
          <a:ln w="12700">
            <a:solidFill>
              <a:srgbClr val="007A78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55323" y="2860243"/>
            <a:ext cx="55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860" dirty="0"/>
          </a:p>
        </p:txBody>
      </p:sp>
      <p:sp>
        <p:nvSpPr>
          <p:cNvPr id="43" name="Text 40"/>
          <p:cNvSpPr/>
          <p:nvPr/>
        </p:nvSpPr>
        <p:spPr>
          <a:xfrm>
            <a:off x="6492240" y="4462272"/>
            <a:ext cx="882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7702311" y="2741371"/>
            <a:ext cx="336774" cy="1592885"/>
          </a:xfrm>
          <a:prstGeom prst="rect">
            <a:avLst/>
          </a:prstGeom>
          <a:solidFill>
            <a:srgbClr val="3F8788">
              <a:alpha val="88000"/>
            </a:srgbClr>
          </a:solidFill>
          <a:ln w="12700">
            <a:solidFill>
              <a:srgbClr val="3F8788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92583" y="2503627"/>
            <a:ext cx="55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</a:t>
            </a:r>
            <a:endParaRPr lang="en-US" sz="860" dirty="0"/>
          </a:p>
        </p:txBody>
      </p:sp>
      <p:sp>
        <p:nvSpPr>
          <p:cNvPr id="46" name="Text 43"/>
          <p:cNvSpPr/>
          <p:nvPr/>
        </p:nvSpPr>
        <p:spPr>
          <a:xfrm>
            <a:off x="7429500" y="4462272"/>
            <a:ext cx="882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8639571" y="2479853"/>
            <a:ext cx="336774" cy="1854403"/>
          </a:xfrm>
          <a:prstGeom prst="rect">
            <a:avLst/>
          </a:prstGeom>
          <a:solidFill>
            <a:srgbClr val="7D9A8F">
              <a:alpha val="88000"/>
            </a:srgbClr>
          </a:solidFill>
          <a:ln w="12700">
            <a:solidFill>
              <a:srgbClr val="7D9A8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29843" y="2242109"/>
            <a:ext cx="55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78</a:t>
            </a:r>
            <a:endParaRPr lang="en-US" sz="860" dirty="0"/>
          </a:p>
        </p:txBody>
      </p:sp>
      <p:sp>
        <p:nvSpPr>
          <p:cNvPr id="49" name="Text 46"/>
          <p:cNvSpPr/>
          <p:nvPr/>
        </p:nvSpPr>
        <p:spPr>
          <a:xfrm>
            <a:off x="8366760" y="4462272"/>
            <a:ext cx="882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9576831" y="2242109"/>
            <a:ext cx="336774" cy="2092147"/>
          </a:xfrm>
          <a:prstGeom prst="rect">
            <a:avLst/>
          </a:prstGeom>
          <a:solidFill>
            <a:srgbClr val="B38E52">
              <a:alpha val="88000"/>
            </a:srgbClr>
          </a:solidFill>
          <a:ln w="12700">
            <a:solidFill>
              <a:srgbClr val="B38E52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467103" y="2004365"/>
            <a:ext cx="55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</a:t>
            </a:r>
            <a:endParaRPr lang="en-US" sz="860" dirty="0"/>
          </a:p>
        </p:txBody>
      </p:sp>
      <p:sp>
        <p:nvSpPr>
          <p:cNvPr id="52" name="Text 49"/>
          <p:cNvSpPr/>
          <p:nvPr/>
        </p:nvSpPr>
        <p:spPr>
          <a:xfrm>
            <a:off x="9304020" y="4462272"/>
            <a:ext cx="882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</a:t>
            </a:r>
            <a:endParaRPr lang="en-US" sz="720" dirty="0"/>
          </a:p>
        </p:txBody>
      </p:sp>
      <p:sp>
        <p:nvSpPr>
          <p:cNvPr id="53" name="Shape 50"/>
          <p:cNvSpPr/>
          <p:nvPr/>
        </p:nvSpPr>
        <p:spPr>
          <a:xfrm>
            <a:off x="6933438" y="3244291"/>
            <a:ext cx="937260" cy="-356616"/>
          </a:xfrm>
          <a:prstGeom prst="line">
            <a:avLst/>
          </a:prstGeom>
          <a:noFill/>
          <a:ln w="12700">
            <a:solidFill>
              <a:srgbClr val="007A7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870698" y="2887675"/>
            <a:ext cx="937260" cy="-261518"/>
          </a:xfrm>
          <a:prstGeom prst="line">
            <a:avLst/>
          </a:prstGeom>
          <a:noFill/>
          <a:ln w="12700">
            <a:solidFill>
              <a:srgbClr val="007A7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07958" y="2626157"/>
            <a:ext cx="937260" cy="-237744"/>
          </a:xfrm>
          <a:prstGeom prst="line">
            <a:avLst/>
          </a:prstGeom>
          <a:noFill/>
          <a:ln w="12700">
            <a:solidFill>
              <a:srgbClr val="007A7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878574" y="3189427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15834" y="2832811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753094" y="2571293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690354" y="2333549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949440" y="4864608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7382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示例数据，仅用于视觉样张</a:t>
            </a:r>
            <a:endParaRPr lang="en-US" sz="550" dirty="0"/>
          </a:p>
        </p:txBody>
      </p:sp>
      <p:sp>
        <p:nvSpPr>
          <p:cNvPr id="61" name="Text 5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66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组织效率调研</dc:title>
  <dc:subject>从工具采购到流程重构</dc:subject>
  <dc:creator>Codex</dc:creator>
  <cp:lastModifiedBy>Codex</cp:lastModifiedBy>
  <cp:revision>1</cp:revision>
  <dcterms:created xsi:type="dcterms:W3CDTF">2026-05-07T13:38:21Z</dcterms:created>
  <dcterms:modified xsi:type="dcterms:W3CDTF">2026-05-07T13:38:21Z</dcterms:modified>
</cp:coreProperties>
</file>