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w/Desktop/codex-visual-ppt-deck-builder/effect-tests/multi-style-pptx-v1/assets/background-minimal-busine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713232" y="713232"/>
            <a:ext cx="5257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07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</a:t>
            </a:r>
            <a:pPr indent="0" marL="0">
              <a:buNone/>
            </a:pPr>
            <a:r>
              <a:rPr lang="en-US" sz="2800" b="1" dirty="0">
                <a:solidFill>
                  <a:srgbClr val="1D252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AI 组织效率调研</a:t>
            </a:r>
            <a:endParaRPr lang="en-US" sz="2800" dirty="0"/>
          </a:p>
        </p:txBody>
      </p:sp>
      <p:sp>
        <p:nvSpPr>
          <p:cNvPr id="4" name="Text 1"/>
          <p:cNvSpPr/>
          <p:nvPr/>
        </p:nvSpPr>
        <p:spPr>
          <a:xfrm>
            <a:off x="749808" y="1389888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2636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从工具采购到流程重构</a:t>
            </a:r>
            <a:endParaRPr lang="en-US" sz="1250" dirty="0"/>
          </a:p>
        </p:txBody>
      </p:sp>
      <p:sp>
        <p:nvSpPr>
          <p:cNvPr id="5" name="Shape 2"/>
          <p:cNvSpPr/>
          <p:nvPr/>
        </p:nvSpPr>
        <p:spPr>
          <a:xfrm>
            <a:off x="768096" y="1920240"/>
            <a:ext cx="420624" cy="420624"/>
          </a:xfrm>
          <a:prstGeom prst="ellipse">
            <a:avLst/>
          </a:prstGeom>
          <a:solidFill>
            <a:srgbClr val="007A78">
              <a:alpha val="92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68096" y="2029968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</a:t>
            </a:r>
            <a:endParaRPr lang="en-US" sz="710" dirty="0"/>
          </a:p>
        </p:txBody>
      </p:sp>
      <p:sp>
        <p:nvSpPr>
          <p:cNvPr id="7" name="Text 4"/>
          <p:cNvSpPr/>
          <p:nvPr/>
        </p:nvSpPr>
        <p:spPr>
          <a:xfrm>
            <a:off x="1426464" y="192024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D252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管理口径从成本转向产出</a:t>
            </a:r>
            <a:endParaRPr lang="en-US" sz="1220" dirty="0"/>
          </a:p>
        </p:txBody>
      </p:sp>
      <p:sp>
        <p:nvSpPr>
          <p:cNvPr id="8" name="Text 5"/>
          <p:cNvSpPr/>
          <p:nvPr/>
        </p:nvSpPr>
        <p:spPr>
          <a:xfrm>
            <a:off x="1426464" y="2231136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5E6E7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AI 项目开始用周期缩短、交付质量和知识沉淀来衡量，而不再只看工具覆盖率。</a:t>
            </a:r>
            <a:endParaRPr lang="en-US" sz="860" dirty="0"/>
          </a:p>
        </p:txBody>
      </p:sp>
      <p:sp>
        <p:nvSpPr>
          <p:cNvPr id="9" name="Shape 6"/>
          <p:cNvSpPr/>
          <p:nvPr/>
        </p:nvSpPr>
        <p:spPr>
          <a:xfrm>
            <a:off x="768096" y="2596896"/>
            <a:ext cx="420624" cy="420624"/>
          </a:xfrm>
          <a:prstGeom prst="ellipse">
            <a:avLst/>
          </a:prstGeom>
          <a:solidFill>
            <a:srgbClr val="5A6E73">
              <a:alpha val="92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68096" y="2706624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</a:t>
            </a:r>
            <a:endParaRPr lang="en-US" sz="710" dirty="0"/>
          </a:p>
        </p:txBody>
      </p:sp>
      <p:sp>
        <p:nvSpPr>
          <p:cNvPr id="11" name="Text 8"/>
          <p:cNvSpPr/>
          <p:nvPr/>
        </p:nvSpPr>
        <p:spPr>
          <a:xfrm>
            <a:off x="1426464" y="2596896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D252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流程嵌入决定复利速度</a:t>
            </a:r>
            <a:endParaRPr lang="en-US" sz="1220" dirty="0"/>
          </a:p>
        </p:txBody>
      </p:sp>
      <p:sp>
        <p:nvSpPr>
          <p:cNvPr id="12" name="Text 9"/>
          <p:cNvSpPr/>
          <p:nvPr/>
        </p:nvSpPr>
        <p:spPr>
          <a:xfrm>
            <a:off x="1426464" y="2907792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5E6E7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真正拉开差距的是把 AI 放进审批、客服、研发和内容生产的连续动作里。</a:t>
            </a:r>
            <a:endParaRPr lang="en-US" sz="860" dirty="0"/>
          </a:p>
        </p:txBody>
      </p:sp>
      <p:sp>
        <p:nvSpPr>
          <p:cNvPr id="13" name="Shape 10"/>
          <p:cNvSpPr/>
          <p:nvPr/>
        </p:nvSpPr>
        <p:spPr>
          <a:xfrm>
            <a:off x="768096" y="3273552"/>
            <a:ext cx="420624" cy="420624"/>
          </a:xfrm>
          <a:prstGeom prst="ellipse">
            <a:avLst/>
          </a:prstGeom>
          <a:solidFill>
            <a:srgbClr val="B38E52">
              <a:alpha val="92000"/>
            </a:srgbClr>
          </a:solidFill>
          <a:ln w="12700">
            <a:solidFill>
              <a:srgbClr val="FFFFFF">
                <a:alpha val="88000"/>
              </a:srgbClr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8096" y="3383280"/>
            <a:ext cx="42062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1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</a:t>
            </a:r>
            <a:endParaRPr lang="en-US" sz="710" dirty="0"/>
          </a:p>
        </p:txBody>
      </p:sp>
      <p:sp>
        <p:nvSpPr>
          <p:cNvPr id="15" name="Text 12"/>
          <p:cNvSpPr/>
          <p:nvPr/>
        </p:nvSpPr>
        <p:spPr>
          <a:xfrm>
            <a:off x="1426464" y="3273552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b="1" dirty="0">
                <a:solidFill>
                  <a:srgbClr val="1D252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治理能力成为扩张前提</a:t>
            </a:r>
            <a:endParaRPr lang="en-US" sz="1220" dirty="0"/>
          </a:p>
        </p:txBody>
      </p:sp>
      <p:sp>
        <p:nvSpPr>
          <p:cNvPr id="16" name="Text 13"/>
          <p:cNvSpPr/>
          <p:nvPr/>
        </p:nvSpPr>
        <p:spPr>
          <a:xfrm>
            <a:off x="1426464" y="3584448"/>
            <a:ext cx="4160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60" dirty="0">
                <a:solidFill>
                  <a:srgbClr val="5E6E7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权限、审查、来源记录和复盘机制会决定组织能否稳定复制经验。</a:t>
            </a:r>
            <a:endParaRPr lang="en-US" sz="860" dirty="0"/>
          </a:p>
        </p:txBody>
      </p:sp>
      <p:sp>
        <p:nvSpPr>
          <p:cNvPr id="17" name="Shape 14"/>
          <p:cNvSpPr/>
          <p:nvPr/>
        </p:nvSpPr>
        <p:spPr>
          <a:xfrm>
            <a:off x="384048" y="4800600"/>
            <a:ext cx="5404104" cy="0"/>
          </a:xfrm>
          <a:prstGeom prst="line">
            <a:avLst/>
          </a:prstGeom>
          <a:noFill/>
          <a:ln w="12700">
            <a:solidFill>
              <a:srgbClr val="AEBABC">
                <a:alpha val="6600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41248" y="5029200"/>
            <a:ext cx="1344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007A7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31%</a:t>
            </a:r>
            <a:endParaRPr lang="en-US" sz="1950" dirty="0"/>
          </a:p>
        </p:txBody>
      </p:sp>
      <p:sp>
        <p:nvSpPr>
          <p:cNvPr id="19" name="Text 16"/>
          <p:cNvSpPr/>
          <p:nvPr/>
        </p:nvSpPr>
        <p:spPr>
          <a:xfrm>
            <a:off x="841248" y="5440680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F4D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周期下降</a:t>
            </a:r>
            <a:endParaRPr lang="en-US" sz="740" dirty="0"/>
          </a:p>
        </p:txBody>
      </p:sp>
      <p:sp>
        <p:nvSpPr>
          <p:cNvPr id="20" name="Shape 17"/>
          <p:cNvSpPr/>
          <p:nvPr/>
        </p:nvSpPr>
        <p:spPr>
          <a:xfrm>
            <a:off x="1435608" y="5696712"/>
            <a:ext cx="292608" cy="292608"/>
          </a:xfrm>
          <a:prstGeom prst="ellipse">
            <a:avLst/>
          </a:prstGeom>
          <a:solidFill>
            <a:srgbClr val="007A78">
              <a:alpha val="42000"/>
            </a:srgbClr>
          </a:solidFill>
          <a:ln w="1270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2212848" y="5084064"/>
            <a:ext cx="0" cy="749808"/>
          </a:xfrm>
          <a:prstGeom prst="line">
            <a:avLst/>
          </a:prstGeom>
          <a:noFill/>
          <a:ln w="12700">
            <a:solidFill>
              <a:srgbClr val="AEBABC">
                <a:alpha val="5400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322576" y="5029200"/>
            <a:ext cx="1344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3D6F73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2.1x</a:t>
            </a:r>
            <a:endParaRPr lang="en-US" sz="1950" dirty="0"/>
          </a:p>
        </p:txBody>
      </p:sp>
      <p:sp>
        <p:nvSpPr>
          <p:cNvPr id="23" name="Text 20"/>
          <p:cNvSpPr/>
          <p:nvPr/>
        </p:nvSpPr>
        <p:spPr>
          <a:xfrm>
            <a:off x="2322576" y="5440680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F4D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知识复用</a:t>
            </a:r>
            <a:endParaRPr lang="en-US" sz="740" dirty="0"/>
          </a:p>
        </p:txBody>
      </p:sp>
      <p:sp>
        <p:nvSpPr>
          <p:cNvPr id="24" name="Shape 21"/>
          <p:cNvSpPr/>
          <p:nvPr/>
        </p:nvSpPr>
        <p:spPr>
          <a:xfrm>
            <a:off x="2916936" y="5696712"/>
            <a:ext cx="292608" cy="292608"/>
          </a:xfrm>
          <a:prstGeom prst="ellipse">
            <a:avLst/>
          </a:prstGeom>
          <a:solidFill>
            <a:srgbClr val="3D6F73">
              <a:alpha val="42000"/>
            </a:srgbClr>
          </a:solidFill>
          <a:ln w="1270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694176" y="5084064"/>
            <a:ext cx="0" cy="749808"/>
          </a:xfrm>
          <a:prstGeom prst="line">
            <a:avLst/>
          </a:prstGeom>
          <a:noFill/>
          <a:ln w="12700">
            <a:solidFill>
              <a:srgbClr val="AEBABC">
                <a:alpha val="5400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803904" y="5029200"/>
            <a:ext cx="13441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950" b="1" dirty="0">
                <a:solidFill>
                  <a:srgbClr val="B38E52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2026</a:t>
            </a:r>
            <a:endParaRPr lang="en-US" sz="1950" dirty="0"/>
          </a:p>
        </p:txBody>
      </p:sp>
      <p:sp>
        <p:nvSpPr>
          <p:cNvPr id="27" name="Text 24"/>
          <p:cNvSpPr/>
          <p:nvPr/>
        </p:nvSpPr>
        <p:spPr>
          <a:xfrm>
            <a:off x="3803904" y="5440680"/>
            <a:ext cx="13441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40" b="1" dirty="0">
                <a:solidFill>
                  <a:srgbClr val="3F4D50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规模窗口</a:t>
            </a:r>
            <a:endParaRPr lang="en-US" sz="740" dirty="0"/>
          </a:p>
        </p:txBody>
      </p:sp>
      <p:sp>
        <p:nvSpPr>
          <p:cNvPr id="28" name="Shape 25"/>
          <p:cNvSpPr/>
          <p:nvPr/>
        </p:nvSpPr>
        <p:spPr>
          <a:xfrm>
            <a:off x="4398264" y="5696712"/>
            <a:ext cx="292608" cy="292608"/>
          </a:xfrm>
          <a:prstGeom prst="ellipse">
            <a:avLst/>
          </a:prstGeom>
          <a:solidFill>
            <a:srgbClr val="B38E52">
              <a:alpha val="42000"/>
            </a:srgbClr>
          </a:solidFill>
          <a:ln w="12700">
            <a:solidFill>
              <a:srgbClr val="FFFFFF">
                <a:alpha val="8000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236208" y="987552"/>
            <a:ext cx="3886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b="1" dirty="0">
                <a:solidFill>
                  <a:srgbClr val="1D252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组织 AI 成熟度指数</a:t>
            </a:r>
            <a:endParaRPr lang="en-US" sz="1120" dirty="0"/>
          </a:p>
        </p:txBody>
      </p:sp>
      <p:sp>
        <p:nvSpPr>
          <p:cNvPr id="30" name="Shape 27"/>
          <p:cNvSpPr/>
          <p:nvPr/>
        </p:nvSpPr>
        <p:spPr>
          <a:xfrm>
            <a:off x="6236208" y="1371600"/>
            <a:ext cx="292608" cy="0"/>
          </a:xfrm>
          <a:prstGeom prst="line">
            <a:avLst/>
          </a:prstGeom>
          <a:noFill/>
          <a:ln w="12700">
            <a:solidFill>
              <a:srgbClr val="007A7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6464808" y="4334256"/>
            <a:ext cx="3749040" cy="0"/>
          </a:xfrm>
          <a:prstGeom prst="line">
            <a:avLst/>
          </a:prstGeom>
          <a:noFill/>
          <a:ln w="12700">
            <a:solidFill>
              <a:srgbClr val="B9C2C4">
                <a:alpha val="72000"/>
              </a:srgbClr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135624" y="4270248"/>
            <a:ext cx="228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71808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</a:t>
            </a:r>
            <a:endParaRPr lang="en-US" sz="680" dirty="0"/>
          </a:p>
        </p:txBody>
      </p:sp>
      <p:sp>
        <p:nvSpPr>
          <p:cNvPr id="33" name="Shape 30"/>
          <p:cNvSpPr/>
          <p:nvPr/>
        </p:nvSpPr>
        <p:spPr>
          <a:xfrm>
            <a:off x="6464808" y="3703320"/>
            <a:ext cx="3749040" cy="0"/>
          </a:xfrm>
          <a:prstGeom prst="line">
            <a:avLst/>
          </a:prstGeom>
          <a:noFill/>
          <a:ln w="12700">
            <a:solidFill>
              <a:srgbClr val="B9C2C4">
                <a:alpha val="38000"/>
              </a:srgbClr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135624" y="3639312"/>
            <a:ext cx="228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71808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25</a:t>
            </a:r>
            <a:endParaRPr lang="en-US" sz="680" dirty="0"/>
          </a:p>
        </p:txBody>
      </p:sp>
      <p:sp>
        <p:nvSpPr>
          <p:cNvPr id="35" name="Shape 32"/>
          <p:cNvSpPr/>
          <p:nvPr/>
        </p:nvSpPr>
        <p:spPr>
          <a:xfrm>
            <a:off x="6464808" y="3072384"/>
            <a:ext cx="3749040" cy="0"/>
          </a:xfrm>
          <a:prstGeom prst="line">
            <a:avLst/>
          </a:prstGeom>
          <a:noFill/>
          <a:ln w="12700">
            <a:solidFill>
              <a:srgbClr val="B9C2C4">
                <a:alpha val="38000"/>
              </a:srgbClr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135624" y="3008376"/>
            <a:ext cx="228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71808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50</a:t>
            </a:r>
            <a:endParaRPr lang="en-US" sz="680" dirty="0"/>
          </a:p>
        </p:txBody>
      </p:sp>
      <p:sp>
        <p:nvSpPr>
          <p:cNvPr id="37" name="Shape 34"/>
          <p:cNvSpPr/>
          <p:nvPr/>
        </p:nvSpPr>
        <p:spPr>
          <a:xfrm>
            <a:off x="6464808" y="2441448"/>
            <a:ext cx="3749040" cy="0"/>
          </a:xfrm>
          <a:prstGeom prst="line">
            <a:avLst/>
          </a:prstGeom>
          <a:noFill/>
          <a:ln w="12700">
            <a:solidFill>
              <a:srgbClr val="B9C2C4">
                <a:alpha val="38000"/>
              </a:srgbClr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6135624" y="2377440"/>
            <a:ext cx="228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71808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75</a:t>
            </a:r>
            <a:endParaRPr lang="en-US" sz="680" dirty="0"/>
          </a:p>
        </p:txBody>
      </p:sp>
      <p:sp>
        <p:nvSpPr>
          <p:cNvPr id="39" name="Shape 36"/>
          <p:cNvSpPr/>
          <p:nvPr/>
        </p:nvSpPr>
        <p:spPr>
          <a:xfrm>
            <a:off x="6464808" y="1810512"/>
            <a:ext cx="3749040" cy="0"/>
          </a:xfrm>
          <a:prstGeom prst="line">
            <a:avLst/>
          </a:prstGeom>
          <a:noFill/>
          <a:ln w="12700">
            <a:solidFill>
              <a:srgbClr val="B9C2C4">
                <a:alpha val="38000"/>
              </a:srgbClr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135624" y="1746504"/>
            <a:ext cx="2286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dirty="0">
                <a:solidFill>
                  <a:srgbClr val="718084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100</a:t>
            </a:r>
            <a:endParaRPr lang="en-US" sz="680" dirty="0"/>
          </a:p>
        </p:txBody>
      </p:sp>
      <p:sp>
        <p:nvSpPr>
          <p:cNvPr id="41" name="Shape 38"/>
          <p:cNvSpPr/>
          <p:nvPr/>
        </p:nvSpPr>
        <p:spPr>
          <a:xfrm>
            <a:off x="6765051" y="3097987"/>
            <a:ext cx="336774" cy="1236269"/>
          </a:xfrm>
          <a:prstGeom prst="rect">
            <a:avLst/>
          </a:prstGeom>
          <a:solidFill>
            <a:srgbClr val="007A78">
              <a:alpha val="88000"/>
            </a:srgbClr>
          </a:solidFill>
          <a:ln w="12700">
            <a:solidFill>
              <a:srgbClr val="007A78">
                <a:alpha val="0"/>
              </a:srgbClr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6655323" y="2860243"/>
            <a:ext cx="55623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1D252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52</a:t>
            </a:r>
            <a:endParaRPr lang="en-US" sz="860" dirty="0"/>
          </a:p>
        </p:txBody>
      </p:sp>
      <p:sp>
        <p:nvSpPr>
          <p:cNvPr id="43" name="Text 40"/>
          <p:cNvSpPr/>
          <p:nvPr/>
        </p:nvSpPr>
        <p:spPr>
          <a:xfrm>
            <a:off x="6492240" y="4462272"/>
            <a:ext cx="882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4858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工具</a:t>
            </a:r>
            <a:endParaRPr lang="en-US" sz="720" dirty="0"/>
          </a:p>
          <a:p>
            <a:pPr algn="ctr" indent="0" marL="0">
              <a:buNone/>
            </a:pPr>
            <a:r>
              <a:rPr lang="en-US" sz="720" dirty="0">
                <a:solidFill>
                  <a:srgbClr val="4858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试点</a:t>
            </a:r>
            <a:endParaRPr lang="en-US" sz="720" dirty="0"/>
          </a:p>
        </p:txBody>
      </p:sp>
      <p:sp>
        <p:nvSpPr>
          <p:cNvPr id="44" name="Shape 41"/>
          <p:cNvSpPr/>
          <p:nvPr/>
        </p:nvSpPr>
        <p:spPr>
          <a:xfrm>
            <a:off x="7702311" y="2741371"/>
            <a:ext cx="336774" cy="1592885"/>
          </a:xfrm>
          <a:prstGeom prst="rect">
            <a:avLst/>
          </a:prstGeom>
          <a:solidFill>
            <a:srgbClr val="3F8788">
              <a:alpha val="88000"/>
            </a:srgbClr>
          </a:solidFill>
          <a:ln w="12700">
            <a:solidFill>
              <a:srgbClr val="3F8788">
                <a:alpha val="0"/>
              </a:srgbClr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592583" y="2503627"/>
            <a:ext cx="55623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1D252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67</a:t>
            </a:r>
            <a:endParaRPr lang="en-US" sz="860" dirty="0"/>
          </a:p>
        </p:txBody>
      </p:sp>
      <p:sp>
        <p:nvSpPr>
          <p:cNvPr id="46" name="Text 43"/>
          <p:cNvSpPr/>
          <p:nvPr/>
        </p:nvSpPr>
        <p:spPr>
          <a:xfrm>
            <a:off x="7429500" y="4462272"/>
            <a:ext cx="882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4858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流程</a:t>
            </a:r>
            <a:endParaRPr lang="en-US" sz="720" dirty="0"/>
          </a:p>
          <a:p>
            <a:pPr algn="ctr" indent="0" marL="0">
              <a:buNone/>
            </a:pPr>
            <a:r>
              <a:rPr lang="en-US" sz="720" dirty="0">
                <a:solidFill>
                  <a:srgbClr val="4858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嵌入</a:t>
            </a:r>
            <a:endParaRPr lang="en-US" sz="720" dirty="0"/>
          </a:p>
        </p:txBody>
      </p:sp>
      <p:sp>
        <p:nvSpPr>
          <p:cNvPr id="47" name="Shape 44"/>
          <p:cNvSpPr/>
          <p:nvPr/>
        </p:nvSpPr>
        <p:spPr>
          <a:xfrm>
            <a:off x="8639571" y="2479853"/>
            <a:ext cx="336774" cy="1854403"/>
          </a:xfrm>
          <a:prstGeom prst="rect">
            <a:avLst/>
          </a:prstGeom>
          <a:solidFill>
            <a:srgbClr val="7D9A8F">
              <a:alpha val="88000"/>
            </a:srgbClr>
          </a:solidFill>
          <a:ln w="12700">
            <a:solidFill>
              <a:srgbClr val="7D9A8F">
                <a:alpha val="0"/>
              </a:srgbClr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8529843" y="2242109"/>
            <a:ext cx="55623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1D252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78</a:t>
            </a:r>
            <a:endParaRPr lang="en-US" sz="860" dirty="0"/>
          </a:p>
        </p:txBody>
      </p:sp>
      <p:sp>
        <p:nvSpPr>
          <p:cNvPr id="49" name="Text 46"/>
          <p:cNvSpPr/>
          <p:nvPr/>
        </p:nvSpPr>
        <p:spPr>
          <a:xfrm>
            <a:off x="8366760" y="4462272"/>
            <a:ext cx="882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4858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</a:t>
            </a:r>
            <a:endParaRPr lang="en-US" sz="720" dirty="0"/>
          </a:p>
          <a:p>
            <a:pPr algn="ctr" indent="0" marL="0">
              <a:buNone/>
            </a:pPr>
            <a:r>
              <a:rPr lang="en-US" sz="720" dirty="0">
                <a:solidFill>
                  <a:srgbClr val="4858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治理</a:t>
            </a:r>
            <a:endParaRPr lang="en-US" sz="720" dirty="0"/>
          </a:p>
        </p:txBody>
      </p:sp>
      <p:sp>
        <p:nvSpPr>
          <p:cNvPr id="50" name="Shape 47"/>
          <p:cNvSpPr/>
          <p:nvPr/>
        </p:nvSpPr>
        <p:spPr>
          <a:xfrm>
            <a:off x="9576831" y="2242109"/>
            <a:ext cx="336774" cy="2092147"/>
          </a:xfrm>
          <a:prstGeom prst="rect">
            <a:avLst/>
          </a:prstGeom>
          <a:solidFill>
            <a:srgbClr val="B38E52">
              <a:alpha val="88000"/>
            </a:srgbClr>
          </a:solidFill>
          <a:ln w="12700">
            <a:solidFill>
              <a:srgbClr val="B38E52">
                <a:alpha val="0"/>
              </a:srgbClr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9467103" y="2004365"/>
            <a:ext cx="55623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860" b="1" dirty="0">
                <a:solidFill>
                  <a:srgbClr val="1D252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88</a:t>
            </a:r>
            <a:endParaRPr lang="en-US" sz="860" dirty="0"/>
          </a:p>
        </p:txBody>
      </p:sp>
      <p:sp>
        <p:nvSpPr>
          <p:cNvPr id="52" name="Text 49"/>
          <p:cNvSpPr/>
          <p:nvPr/>
        </p:nvSpPr>
        <p:spPr>
          <a:xfrm>
            <a:off x="9304020" y="4462272"/>
            <a:ext cx="8823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720" dirty="0">
                <a:solidFill>
                  <a:srgbClr val="4858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组织</a:t>
            </a:r>
            <a:endParaRPr lang="en-US" sz="720" dirty="0"/>
          </a:p>
          <a:p>
            <a:pPr algn="ctr" indent="0" marL="0">
              <a:buNone/>
            </a:pPr>
            <a:r>
              <a:rPr lang="en-US" sz="720" dirty="0">
                <a:solidFill>
                  <a:srgbClr val="48585C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扩展</a:t>
            </a:r>
            <a:endParaRPr lang="en-US" sz="720" dirty="0"/>
          </a:p>
        </p:txBody>
      </p:sp>
      <p:sp>
        <p:nvSpPr>
          <p:cNvPr id="53" name="Shape 50"/>
          <p:cNvSpPr/>
          <p:nvPr/>
        </p:nvSpPr>
        <p:spPr>
          <a:xfrm>
            <a:off x="6933438" y="3244291"/>
            <a:ext cx="937260" cy="-356616"/>
          </a:xfrm>
          <a:prstGeom prst="line">
            <a:avLst/>
          </a:prstGeom>
          <a:noFill/>
          <a:ln w="12700">
            <a:solidFill>
              <a:srgbClr val="007A7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7870698" y="2887675"/>
            <a:ext cx="937260" cy="-261518"/>
          </a:xfrm>
          <a:prstGeom prst="line">
            <a:avLst/>
          </a:prstGeom>
          <a:noFill/>
          <a:ln w="12700">
            <a:solidFill>
              <a:srgbClr val="007A78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8807958" y="2626157"/>
            <a:ext cx="937260" cy="-237744"/>
          </a:xfrm>
          <a:prstGeom prst="line">
            <a:avLst/>
          </a:prstGeom>
          <a:noFill/>
          <a:ln w="12700">
            <a:solidFill>
              <a:srgbClr val="007A78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6878574" y="3189427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7A7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7815834" y="2832811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7A7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8753094" y="2571293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7A78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9690354" y="2333549"/>
            <a:ext cx="109728" cy="1097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007A7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6949440" y="4864608"/>
            <a:ext cx="34290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50" dirty="0">
                <a:solidFill>
                  <a:srgbClr val="738286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示例数据，仅用于视觉样张</a:t>
            </a:r>
            <a:endParaRPr lang="en-US" sz="550" dirty="0"/>
          </a:p>
        </p:txBody>
      </p:sp>
      <p:sp>
        <p:nvSpPr>
          <p:cNvPr id="61" name="Text 58"/>
          <p:cNvSpPr/>
          <p:nvPr/>
        </p:nvSpPr>
        <p:spPr>
          <a:xfrm>
            <a:off x="10881360" y="6455664"/>
            <a:ext cx="777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6666A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1/1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ingFang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ingFang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Codex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AI 组织效率调研</dc:title>
  <dc:subject>从工具采购到流程重构</dc:subject>
  <dc:creator>Codex</dc:creator>
  <cp:lastModifiedBy>Codex</cp:lastModifiedBy>
  <cp:revision>1</cp:revision>
  <dcterms:created xsi:type="dcterms:W3CDTF">2026-05-07T12:42:01Z</dcterms:created>
  <dcterms:modified xsi:type="dcterms:W3CDTF">2026-05-07T12:42:01Z</dcterms:modified>
</cp:coreProperties>
</file>