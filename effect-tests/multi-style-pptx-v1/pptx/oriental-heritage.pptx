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w/Desktop/codex-visual-ppt-deck-builder/effect-tests/multi-style-pptx-v1/assets/background-oriental-heri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4944" y="749808"/>
            <a:ext cx="4434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50" b="1" dirty="0">
                <a:solidFill>
                  <a:srgbClr val="B8201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2026</a:t>
            </a:r>
            <a:pPr indent="0" marL="0">
              <a:buNone/>
            </a:pPr>
            <a:r>
              <a:rPr lang="en-US" sz="2850" b="1" dirty="0">
                <a:solidFill>
                  <a:srgbClr val="211A1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 东方品牌数字化观察</a:t>
            </a:r>
            <a:endParaRPr lang="en-US" sz="2850" dirty="0"/>
          </a:p>
        </p:txBody>
      </p:sp>
      <p:sp>
        <p:nvSpPr>
          <p:cNvPr id="4" name="Text 1"/>
          <p:cNvSpPr/>
          <p:nvPr/>
        </p:nvSpPr>
        <p:spPr>
          <a:xfrm>
            <a:off x="713232" y="1371600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7A362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传统文化资产进入内容产品化阶段</a:t>
            </a:r>
            <a:endParaRPr lang="en-US" sz="1160" dirty="0"/>
          </a:p>
        </p:txBody>
      </p:sp>
      <p:sp>
        <p:nvSpPr>
          <p:cNvPr id="5" name="Shape 2"/>
          <p:cNvSpPr/>
          <p:nvPr/>
        </p:nvSpPr>
        <p:spPr>
          <a:xfrm>
            <a:off x="1005840" y="1847088"/>
            <a:ext cx="0" cy="2468880"/>
          </a:xfrm>
          <a:prstGeom prst="line">
            <a:avLst/>
          </a:prstGeom>
          <a:noFill/>
          <a:ln w="12700">
            <a:solidFill>
              <a:srgbClr val="B8201A">
                <a:alpha val="64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1920240"/>
            <a:ext cx="384048" cy="384048"/>
          </a:xfrm>
          <a:prstGeom prst="ellipse">
            <a:avLst/>
          </a:prstGeom>
          <a:solidFill>
            <a:srgbClr val="B8201A"/>
          </a:solidFill>
          <a:ln w="12700">
            <a:solidFill>
              <a:srgbClr val="B8201A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020824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壹</a:t>
            </a:r>
            <a:endParaRPr lang="en-US" sz="720" dirty="0"/>
          </a:p>
        </p:txBody>
      </p:sp>
      <p:sp>
        <p:nvSpPr>
          <p:cNvPr id="8" name="Text 5"/>
          <p:cNvSpPr/>
          <p:nvPr/>
        </p:nvSpPr>
        <p:spPr>
          <a:xfrm>
            <a:off x="1426464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b="1" dirty="0">
                <a:solidFill>
                  <a:srgbClr val="211A1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文化表达从符号转向体系</a:t>
            </a:r>
            <a:endParaRPr lang="en-US" sz="1240" dirty="0"/>
          </a:p>
        </p:txBody>
      </p:sp>
      <p:sp>
        <p:nvSpPr>
          <p:cNvPr id="9" name="Text 6"/>
          <p:cNvSpPr/>
          <p:nvPr/>
        </p:nvSpPr>
        <p:spPr>
          <a:xfrm>
            <a:off x="1426464" y="2231136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66584E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水墨、器物、纹样和叙事需要统一成可复用的品牌语法，而不是一次性装饰。</a:t>
            </a:r>
            <a:endParaRPr lang="en-US" sz="840" dirty="0"/>
          </a:p>
        </p:txBody>
      </p:sp>
      <p:sp>
        <p:nvSpPr>
          <p:cNvPr id="10" name="Shape 7"/>
          <p:cNvSpPr/>
          <p:nvPr/>
        </p:nvSpPr>
        <p:spPr>
          <a:xfrm>
            <a:off x="822960" y="2706624"/>
            <a:ext cx="384048" cy="384048"/>
          </a:xfrm>
          <a:prstGeom prst="ellipse">
            <a:avLst/>
          </a:prstGeom>
          <a:solidFill>
            <a:srgbClr val="B88A3B"/>
          </a:solidFill>
          <a:ln w="12700">
            <a:solidFill>
              <a:srgbClr val="B88A3B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807208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贰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1426464" y="26883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b="1" dirty="0">
                <a:solidFill>
                  <a:srgbClr val="211A1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内容资产成为增长入口</a:t>
            </a:r>
            <a:endParaRPr lang="en-US" sz="1240" dirty="0"/>
          </a:p>
        </p:txBody>
      </p:sp>
      <p:sp>
        <p:nvSpPr>
          <p:cNvPr id="13" name="Text 10"/>
          <p:cNvSpPr/>
          <p:nvPr/>
        </p:nvSpPr>
        <p:spPr>
          <a:xfrm>
            <a:off x="1426464" y="3017520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66584E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短视频、直播、社群和线下空间会共同放大品牌故事的持续触达。</a:t>
            </a:r>
            <a:endParaRPr lang="en-US" sz="840" dirty="0"/>
          </a:p>
        </p:txBody>
      </p:sp>
      <p:sp>
        <p:nvSpPr>
          <p:cNvPr id="14" name="Shape 11"/>
          <p:cNvSpPr/>
          <p:nvPr/>
        </p:nvSpPr>
        <p:spPr>
          <a:xfrm>
            <a:off x="822960" y="3493008"/>
            <a:ext cx="384048" cy="384048"/>
          </a:xfrm>
          <a:prstGeom prst="ellipse">
            <a:avLst/>
          </a:prstGeom>
          <a:solidFill>
            <a:srgbClr val="1D1D1B"/>
          </a:solidFill>
          <a:ln w="12700">
            <a:solidFill>
              <a:srgbClr val="1D1D1B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593592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叁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1426464" y="34747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b="1" dirty="0">
                <a:solidFill>
                  <a:srgbClr val="211A1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年轻用户更关注真实质感</a:t>
            </a:r>
            <a:endParaRPr lang="en-US" sz="1240" dirty="0"/>
          </a:p>
        </p:txBody>
      </p:sp>
      <p:sp>
        <p:nvSpPr>
          <p:cNvPr id="17" name="Text 14"/>
          <p:cNvSpPr/>
          <p:nvPr/>
        </p:nvSpPr>
        <p:spPr>
          <a:xfrm>
            <a:off x="1426464" y="3803904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66584E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真正有辨识度的东方美学，需要在现代商业信息里保留克制与层次。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4754880" y="153619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211A1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东方品牌内容资产指数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754880" y="1920240"/>
            <a:ext cx="292608" cy="0"/>
          </a:xfrm>
          <a:prstGeom prst="line">
            <a:avLst/>
          </a:prstGeom>
          <a:noFill/>
          <a:ln w="12700">
            <a:solidFill>
              <a:srgbClr val="B8201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56632" y="4946904"/>
            <a:ext cx="3593592" cy="0"/>
          </a:xfrm>
          <a:prstGeom prst="line">
            <a:avLst/>
          </a:prstGeom>
          <a:noFill/>
          <a:ln w="12700">
            <a:solidFill>
              <a:srgbClr val="C8B8A2">
                <a:alpha val="76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27448" y="4882896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7B6A5E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0</a:t>
            </a:r>
            <a:endParaRPr lang="en-US" sz="660" dirty="0"/>
          </a:p>
        </p:txBody>
      </p:sp>
      <p:sp>
        <p:nvSpPr>
          <p:cNvPr id="22" name="Shape 19"/>
          <p:cNvSpPr/>
          <p:nvPr/>
        </p:nvSpPr>
        <p:spPr>
          <a:xfrm>
            <a:off x="5056632" y="4322826"/>
            <a:ext cx="3593592" cy="0"/>
          </a:xfrm>
          <a:prstGeom prst="line">
            <a:avLst/>
          </a:prstGeom>
          <a:noFill/>
          <a:ln w="12700">
            <a:solidFill>
              <a:srgbClr val="C8B8A2">
                <a:alpha val="46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27448" y="4258818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7B6A5E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25</a:t>
            </a:r>
            <a:endParaRPr lang="en-US" sz="660" dirty="0"/>
          </a:p>
        </p:txBody>
      </p:sp>
      <p:sp>
        <p:nvSpPr>
          <p:cNvPr id="24" name="Shape 21"/>
          <p:cNvSpPr/>
          <p:nvPr/>
        </p:nvSpPr>
        <p:spPr>
          <a:xfrm>
            <a:off x="5056632" y="3698748"/>
            <a:ext cx="3593592" cy="0"/>
          </a:xfrm>
          <a:prstGeom prst="line">
            <a:avLst/>
          </a:prstGeom>
          <a:noFill/>
          <a:ln w="12700">
            <a:solidFill>
              <a:srgbClr val="C8B8A2">
                <a:alpha val="46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27448" y="363474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7B6A5E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50</a:t>
            </a:r>
            <a:endParaRPr lang="en-US" sz="660" dirty="0"/>
          </a:p>
        </p:txBody>
      </p:sp>
      <p:sp>
        <p:nvSpPr>
          <p:cNvPr id="26" name="Shape 23"/>
          <p:cNvSpPr/>
          <p:nvPr/>
        </p:nvSpPr>
        <p:spPr>
          <a:xfrm>
            <a:off x="5056632" y="3074670"/>
            <a:ext cx="3593592" cy="0"/>
          </a:xfrm>
          <a:prstGeom prst="line">
            <a:avLst/>
          </a:prstGeom>
          <a:noFill/>
          <a:ln w="12700">
            <a:solidFill>
              <a:srgbClr val="C8B8A2">
                <a:alpha val="4600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27448" y="3010662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7B6A5E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75</a:t>
            </a:r>
            <a:endParaRPr lang="en-US" sz="660" dirty="0"/>
          </a:p>
        </p:txBody>
      </p:sp>
      <p:sp>
        <p:nvSpPr>
          <p:cNvPr id="28" name="Shape 25"/>
          <p:cNvSpPr/>
          <p:nvPr/>
        </p:nvSpPr>
        <p:spPr>
          <a:xfrm>
            <a:off x="5056632" y="2450592"/>
            <a:ext cx="3593592" cy="0"/>
          </a:xfrm>
          <a:prstGeom prst="line">
            <a:avLst/>
          </a:prstGeom>
          <a:noFill/>
          <a:ln w="12700">
            <a:solidFill>
              <a:srgbClr val="C8B8A2">
                <a:alpha val="46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27448" y="2386584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7B6A5E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100</a:t>
            </a:r>
            <a:endParaRPr lang="en-US" sz="660" dirty="0"/>
          </a:p>
        </p:txBody>
      </p:sp>
      <p:sp>
        <p:nvSpPr>
          <p:cNvPr id="30" name="Shape 27"/>
          <p:cNvSpPr/>
          <p:nvPr/>
        </p:nvSpPr>
        <p:spPr>
          <a:xfrm>
            <a:off x="5348714" y="3818900"/>
            <a:ext cx="314234" cy="1128004"/>
          </a:xfrm>
          <a:prstGeom prst="rect">
            <a:avLst/>
          </a:prstGeom>
          <a:solidFill>
            <a:srgbClr val="B8201A">
              <a:alpha val="90000"/>
            </a:srgbClr>
          </a:solidFill>
          <a:ln w="12700">
            <a:solidFill>
              <a:srgbClr val="B8201A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38986" y="3581156"/>
            <a:ext cx="5336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11A1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48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5084064" y="5074920"/>
            <a:ext cx="8435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51453C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符号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1453C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识别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6247112" y="3442899"/>
            <a:ext cx="314234" cy="1504005"/>
          </a:xfrm>
          <a:prstGeom prst="rect">
            <a:avLst/>
          </a:prstGeom>
          <a:solidFill>
            <a:srgbClr val="1D1D1B">
              <a:alpha val="90000"/>
            </a:srgbClr>
          </a:solidFill>
          <a:ln w="12700">
            <a:solidFill>
              <a:srgbClr val="1D1D1B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137384" y="3205155"/>
            <a:ext cx="5336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11A1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64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5982462" y="5074920"/>
            <a:ext cx="8435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51453C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故事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1453C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表达</a:t>
            </a:r>
            <a:endParaRPr lang="en-US" sz="700" dirty="0"/>
          </a:p>
        </p:txBody>
      </p:sp>
      <p:sp>
        <p:nvSpPr>
          <p:cNvPr id="36" name="Shape 33"/>
          <p:cNvSpPr/>
          <p:nvPr/>
        </p:nvSpPr>
        <p:spPr>
          <a:xfrm>
            <a:off x="7145510" y="3254898"/>
            <a:ext cx="314234" cy="1692006"/>
          </a:xfrm>
          <a:prstGeom prst="rect">
            <a:avLst/>
          </a:prstGeom>
          <a:solidFill>
            <a:srgbClr val="C34F33">
              <a:alpha val="90000"/>
            </a:srgbClr>
          </a:solidFill>
          <a:ln w="12700">
            <a:solidFill>
              <a:srgbClr val="C34F33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035782" y="3017154"/>
            <a:ext cx="5336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11A1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72</a:t>
            </a:r>
            <a:endParaRPr lang="en-US" sz="820" dirty="0"/>
          </a:p>
        </p:txBody>
      </p:sp>
      <p:sp>
        <p:nvSpPr>
          <p:cNvPr id="38" name="Text 35"/>
          <p:cNvSpPr/>
          <p:nvPr/>
        </p:nvSpPr>
        <p:spPr>
          <a:xfrm>
            <a:off x="6880860" y="5074920"/>
            <a:ext cx="8435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51453C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产品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1453C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转化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8043908" y="2925897"/>
            <a:ext cx="314234" cy="2021007"/>
          </a:xfrm>
          <a:prstGeom prst="rect">
            <a:avLst/>
          </a:prstGeom>
          <a:solidFill>
            <a:srgbClr val="B88A3B">
              <a:alpha val="90000"/>
            </a:srgbClr>
          </a:solidFill>
          <a:ln w="12700">
            <a:solidFill>
              <a:srgbClr val="B88A3B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934180" y="2688153"/>
            <a:ext cx="5336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11A1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86</a:t>
            </a:r>
            <a:endParaRPr lang="en-US" sz="820" dirty="0"/>
          </a:p>
        </p:txBody>
      </p:sp>
      <p:sp>
        <p:nvSpPr>
          <p:cNvPr id="41" name="Text 38"/>
          <p:cNvSpPr/>
          <p:nvPr/>
        </p:nvSpPr>
        <p:spPr>
          <a:xfrm>
            <a:off x="7779258" y="5074920"/>
            <a:ext cx="8435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51453C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社群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1453C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沉淀</a:t>
            </a:r>
            <a:endParaRPr lang="en-US" sz="700" dirty="0"/>
          </a:p>
        </p:txBody>
      </p:sp>
      <p:sp>
        <p:nvSpPr>
          <p:cNvPr id="42" name="Shape 39"/>
          <p:cNvSpPr/>
          <p:nvPr/>
        </p:nvSpPr>
        <p:spPr>
          <a:xfrm>
            <a:off x="5505831" y="3965204"/>
            <a:ext cx="898398" cy="-376001"/>
          </a:xfrm>
          <a:prstGeom prst="line">
            <a:avLst/>
          </a:prstGeom>
          <a:noFill/>
          <a:ln w="12700">
            <a:solidFill>
              <a:srgbClr val="B8201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404229" y="3589203"/>
            <a:ext cx="898398" cy="-188001"/>
          </a:xfrm>
          <a:prstGeom prst="line">
            <a:avLst/>
          </a:prstGeom>
          <a:noFill/>
          <a:ln w="12700">
            <a:solidFill>
              <a:srgbClr val="B8201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302627" y="3401202"/>
            <a:ext cx="898398" cy="-329001"/>
          </a:xfrm>
          <a:prstGeom prst="line">
            <a:avLst/>
          </a:prstGeom>
          <a:noFill/>
          <a:ln w="12700">
            <a:solidFill>
              <a:srgbClr val="B8201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50967" y="391034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8201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49365" y="3534339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8201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247763" y="334633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8201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146161" y="3017337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8201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541264" y="5477256"/>
            <a:ext cx="3273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" dirty="0">
                <a:solidFill>
                  <a:srgbClr val="8A7A6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示例数据，仅用于视觉样张</a:t>
            </a:r>
            <a:endParaRPr lang="en-US" sz="520" dirty="0"/>
          </a:p>
        </p:txBody>
      </p:sp>
      <p:sp>
        <p:nvSpPr>
          <p:cNvPr id="50" name="Shape 47"/>
          <p:cNvSpPr/>
          <p:nvPr/>
        </p:nvSpPr>
        <p:spPr>
          <a:xfrm>
            <a:off x="9253728" y="1408176"/>
            <a:ext cx="0" cy="3602736"/>
          </a:xfrm>
          <a:prstGeom prst="line">
            <a:avLst/>
          </a:prstGeom>
          <a:noFill/>
          <a:ln w="12700">
            <a:solidFill>
              <a:srgbClr val="C8B8A2">
                <a:alpha val="75000"/>
              </a:srgbClr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418320" y="14996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B8201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42%</a:t>
            </a:r>
            <a:endParaRPr lang="en-US" sz="1650" dirty="0"/>
          </a:p>
        </p:txBody>
      </p:sp>
      <p:sp>
        <p:nvSpPr>
          <p:cNvPr id="52" name="Text 49"/>
          <p:cNvSpPr/>
          <p:nvPr/>
        </p:nvSpPr>
        <p:spPr>
          <a:xfrm>
            <a:off x="9418320" y="19202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5B4F4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内容复用</a:t>
            </a:r>
            <a:endParaRPr lang="en-US" sz="700" dirty="0"/>
          </a:p>
        </p:txBody>
      </p:sp>
      <p:sp>
        <p:nvSpPr>
          <p:cNvPr id="53" name="Shape 50"/>
          <p:cNvSpPr/>
          <p:nvPr/>
        </p:nvSpPr>
        <p:spPr>
          <a:xfrm>
            <a:off x="9253728" y="2554224"/>
            <a:ext cx="1554480" cy="0"/>
          </a:xfrm>
          <a:prstGeom prst="line">
            <a:avLst/>
          </a:prstGeom>
          <a:noFill/>
          <a:ln w="12700">
            <a:solidFill>
              <a:srgbClr val="C8B8A2">
                <a:alpha val="52000"/>
              </a:srgbClr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9418320" y="26639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D1D1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3.2x</a:t>
            </a:r>
            <a:endParaRPr lang="en-US" sz="1650" dirty="0"/>
          </a:p>
        </p:txBody>
      </p:sp>
      <p:sp>
        <p:nvSpPr>
          <p:cNvPr id="55" name="Text 52"/>
          <p:cNvSpPr/>
          <p:nvPr/>
        </p:nvSpPr>
        <p:spPr>
          <a:xfrm>
            <a:off x="9418320" y="30845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5B4F4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触点扩展</a:t>
            </a:r>
            <a:endParaRPr lang="en-US" sz="700" dirty="0"/>
          </a:p>
        </p:txBody>
      </p:sp>
      <p:sp>
        <p:nvSpPr>
          <p:cNvPr id="56" name="Shape 53"/>
          <p:cNvSpPr/>
          <p:nvPr/>
        </p:nvSpPr>
        <p:spPr>
          <a:xfrm>
            <a:off x="9253728" y="3718560"/>
            <a:ext cx="1554480" cy="0"/>
          </a:xfrm>
          <a:prstGeom prst="line">
            <a:avLst/>
          </a:prstGeom>
          <a:noFill/>
          <a:ln w="12700">
            <a:solidFill>
              <a:srgbClr val="C8B8A2">
                <a:alpha val="52000"/>
              </a:srgbClr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9418320" y="38282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B88A3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2026</a:t>
            </a:r>
            <a:endParaRPr lang="en-US" sz="1650" dirty="0"/>
          </a:p>
        </p:txBody>
      </p:sp>
      <p:sp>
        <p:nvSpPr>
          <p:cNvPr id="58" name="Text 55"/>
          <p:cNvSpPr/>
          <p:nvPr/>
        </p:nvSpPr>
        <p:spPr>
          <a:xfrm>
            <a:off x="9418320" y="42489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5B4F46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品牌焕新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088136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E6255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1/1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ngti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ngti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东方品牌数字化观察</dc:title>
  <dc:subject>传统文化资产进入内容产品化阶段</dc:subject>
  <dc:creator>Codex</dc:creator>
  <cp:lastModifiedBy>Codex</cp:lastModifiedBy>
  <cp:revision>1</cp:revision>
  <dcterms:created xsi:type="dcterms:W3CDTF">2026-05-07T13:38:21Z</dcterms:created>
  <dcterms:modified xsi:type="dcterms:W3CDTF">2026-05-07T13:38:21Z</dcterms:modified>
</cp:coreProperties>
</file>