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w/Desktop/codex-visual-ppt-deck-builder/effect-tests/multi-style-pptx-v1/assets/background-oriental-heri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749808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B8201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2026</a:t>
            </a:r>
            <a:pPr indent="0" marL="0">
              <a:buNone/>
            </a:pPr>
            <a:r>
              <a:rPr lang="en-US" sz="2850" b="1" dirty="0">
                <a:solidFill>
                  <a:srgbClr val="211A1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 东方品牌数字化观察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822960" y="14630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7A362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传统文化资产进入内容产品化阶段</a:t>
            </a:r>
            <a:endParaRPr lang="en-US" sz="1160" dirty="0"/>
          </a:p>
        </p:txBody>
      </p:sp>
      <p:sp>
        <p:nvSpPr>
          <p:cNvPr id="5" name="Shape 2"/>
          <p:cNvSpPr/>
          <p:nvPr/>
        </p:nvSpPr>
        <p:spPr>
          <a:xfrm>
            <a:off x="841248" y="2011680"/>
            <a:ext cx="420624" cy="420624"/>
          </a:xfrm>
          <a:prstGeom prst="ellipse">
            <a:avLst/>
          </a:prstGeom>
          <a:solidFill>
            <a:srgbClr val="B8201A">
              <a:alpha val="92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212140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承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499616" y="201168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211A1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文化表达从符号转向体系</a:t>
            </a:r>
            <a:endParaRPr lang="en-US" sz="1240" dirty="0"/>
          </a:p>
        </p:txBody>
      </p:sp>
      <p:sp>
        <p:nvSpPr>
          <p:cNvPr id="8" name="Text 5"/>
          <p:cNvSpPr/>
          <p:nvPr/>
        </p:nvSpPr>
        <p:spPr>
          <a:xfrm>
            <a:off x="1499616" y="2322576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58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水墨、器物、纹样和叙事需要统一成可复用的品牌语法，而不是一次性装饰。</a:t>
            </a:r>
            <a:endParaRPr lang="en-US" sz="840" dirty="0"/>
          </a:p>
        </p:txBody>
      </p:sp>
      <p:sp>
        <p:nvSpPr>
          <p:cNvPr id="9" name="Shape 6"/>
          <p:cNvSpPr/>
          <p:nvPr/>
        </p:nvSpPr>
        <p:spPr>
          <a:xfrm>
            <a:off x="841248" y="2688336"/>
            <a:ext cx="420624" cy="420624"/>
          </a:xfrm>
          <a:prstGeom prst="ellipse">
            <a:avLst/>
          </a:prstGeom>
          <a:solidFill>
            <a:srgbClr val="B88A3B">
              <a:alpha val="92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279806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造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499616" y="268833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211A1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内容资产成为增长入口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1499616" y="2999232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58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短视频、直播、社群和线下空间会共同放大品牌故事的持续触达。</a:t>
            </a:r>
            <a:endParaRPr lang="en-US" sz="840" dirty="0"/>
          </a:p>
        </p:txBody>
      </p:sp>
      <p:sp>
        <p:nvSpPr>
          <p:cNvPr id="13" name="Shape 10"/>
          <p:cNvSpPr/>
          <p:nvPr/>
        </p:nvSpPr>
        <p:spPr>
          <a:xfrm>
            <a:off x="841248" y="3364992"/>
            <a:ext cx="420624" cy="420624"/>
          </a:xfrm>
          <a:prstGeom prst="ellipse">
            <a:avLst/>
          </a:prstGeom>
          <a:solidFill>
            <a:srgbClr val="1D1D1B">
              <a:alpha val="92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347472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新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499616" y="336499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211A1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年轻用户更关注真实质感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1499616" y="3675888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58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真正有辨识度的东方美学，需要在现代商业信息里保留克制与层次。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438912" y="4764024"/>
            <a:ext cx="5303520" cy="0"/>
          </a:xfrm>
          <a:prstGeom prst="line">
            <a:avLst/>
          </a:prstGeom>
          <a:noFill/>
          <a:ln w="12700">
            <a:solidFill>
              <a:srgbClr val="C8B8A2">
                <a:alpha val="72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96112" y="4992624"/>
            <a:ext cx="131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201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42%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96112" y="5404104"/>
            <a:ext cx="131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4F4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内容复用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1473708" y="5660136"/>
            <a:ext cx="292608" cy="292608"/>
          </a:xfrm>
          <a:prstGeom prst="ellipse">
            <a:avLst/>
          </a:prstGeom>
          <a:solidFill>
            <a:srgbClr val="B8201A">
              <a:alpha val="42000"/>
            </a:srgbClr>
          </a:solidFill>
          <a:ln w="12700">
            <a:solidFill>
              <a:srgbClr val="F9F2E8">
                <a:alpha val="8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234184" y="5047488"/>
            <a:ext cx="0" cy="749808"/>
          </a:xfrm>
          <a:prstGeom prst="line">
            <a:avLst/>
          </a:prstGeom>
          <a:noFill/>
          <a:ln w="12700">
            <a:solidFill>
              <a:srgbClr val="C8B8A2">
                <a:alpha val="58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343912" y="4992624"/>
            <a:ext cx="131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1D1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3.2x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2343912" y="5404104"/>
            <a:ext cx="131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4F4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触点扩展</a:t>
            </a:r>
            <a:endParaRPr lang="en-US" sz="720" dirty="0"/>
          </a:p>
        </p:txBody>
      </p:sp>
      <p:sp>
        <p:nvSpPr>
          <p:cNvPr id="24" name="Shape 21"/>
          <p:cNvSpPr/>
          <p:nvPr/>
        </p:nvSpPr>
        <p:spPr>
          <a:xfrm>
            <a:off x="2921508" y="5660136"/>
            <a:ext cx="292608" cy="292608"/>
          </a:xfrm>
          <a:prstGeom prst="ellipse">
            <a:avLst/>
          </a:prstGeom>
          <a:solidFill>
            <a:srgbClr val="1D1D1B">
              <a:alpha val="42000"/>
            </a:srgbClr>
          </a:solidFill>
          <a:ln w="12700">
            <a:solidFill>
              <a:srgbClr val="F9F2E8">
                <a:alpha val="8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81984" y="5047488"/>
            <a:ext cx="0" cy="749808"/>
          </a:xfrm>
          <a:prstGeom prst="line">
            <a:avLst/>
          </a:prstGeom>
          <a:noFill/>
          <a:ln w="12700">
            <a:solidFill>
              <a:srgbClr val="C8B8A2">
                <a:alpha val="58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91712" y="4992624"/>
            <a:ext cx="131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8A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2026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3791712" y="5404104"/>
            <a:ext cx="131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4F4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品牌焕新</a:t>
            </a:r>
            <a:endParaRPr lang="en-US" sz="720" dirty="0"/>
          </a:p>
        </p:txBody>
      </p:sp>
      <p:sp>
        <p:nvSpPr>
          <p:cNvPr id="28" name="Shape 25"/>
          <p:cNvSpPr/>
          <p:nvPr/>
        </p:nvSpPr>
        <p:spPr>
          <a:xfrm>
            <a:off x="4369308" y="5660136"/>
            <a:ext cx="292608" cy="292608"/>
          </a:xfrm>
          <a:prstGeom prst="ellipse">
            <a:avLst/>
          </a:prstGeom>
          <a:solidFill>
            <a:srgbClr val="B88A3B">
              <a:alpha val="42000"/>
            </a:srgbClr>
          </a:solidFill>
          <a:ln w="12700">
            <a:solidFill>
              <a:srgbClr val="F9F2E8">
                <a:alpha val="8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21808" y="1078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11A1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东方品牌内容资产指数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321808" y="1463040"/>
            <a:ext cx="292608" cy="0"/>
          </a:xfrm>
          <a:prstGeom prst="line">
            <a:avLst/>
          </a:prstGeom>
          <a:noFill/>
          <a:ln w="12700">
            <a:solidFill>
              <a:srgbClr val="B8201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495544" y="4370832"/>
            <a:ext cx="3172968" cy="0"/>
          </a:xfrm>
          <a:prstGeom prst="line">
            <a:avLst/>
          </a:prstGeom>
          <a:noFill/>
          <a:ln w="12700">
            <a:solidFill>
              <a:srgbClr val="C8B8A2">
                <a:alpha val="76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66360" y="430682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7B6A5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</a:t>
            </a:r>
            <a:endParaRPr lang="en-US" sz="660" dirty="0"/>
          </a:p>
        </p:txBody>
      </p:sp>
      <p:sp>
        <p:nvSpPr>
          <p:cNvPr id="33" name="Shape 30"/>
          <p:cNvSpPr/>
          <p:nvPr/>
        </p:nvSpPr>
        <p:spPr>
          <a:xfrm>
            <a:off x="5495544" y="3767328"/>
            <a:ext cx="3172968" cy="0"/>
          </a:xfrm>
          <a:prstGeom prst="line">
            <a:avLst/>
          </a:prstGeom>
          <a:noFill/>
          <a:ln w="12700">
            <a:solidFill>
              <a:srgbClr val="C8B8A2">
                <a:alpha val="46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66360" y="370332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7B6A5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25</a:t>
            </a:r>
            <a:endParaRPr lang="en-US" sz="660" dirty="0"/>
          </a:p>
        </p:txBody>
      </p:sp>
      <p:sp>
        <p:nvSpPr>
          <p:cNvPr id="35" name="Shape 32"/>
          <p:cNvSpPr/>
          <p:nvPr/>
        </p:nvSpPr>
        <p:spPr>
          <a:xfrm>
            <a:off x="5495544" y="3163824"/>
            <a:ext cx="3172968" cy="0"/>
          </a:xfrm>
          <a:prstGeom prst="line">
            <a:avLst/>
          </a:prstGeom>
          <a:noFill/>
          <a:ln w="12700">
            <a:solidFill>
              <a:srgbClr val="C8B8A2">
                <a:alpha val="46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66360" y="30998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7B6A5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50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5495544" y="2560320"/>
            <a:ext cx="3172968" cy="0"/>
          </a:xfrm>
          <a:prstGeom prst="line">
            <a:avLst/>
          </a:prstGeom>
          <a:noFill/>
          <a:ln w="12700">
            <a:solidFill>
              <a:srgbClr val="C8B8A2">
                <a:alpha val="46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166360" y="24963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7B6A5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75</a:t>
            </a:r>
            <a:endParaRPr lang="en-US" sz="660" dirty="0"/>
          </a:p>
        </p:txBody>
      </p:sp>
      <p:sp>
        <p:nvSpPr>
          <p:cNvPr id="39" name="Shape 36"/>
          <p:cNvSpPr/>
          <p:nvPr/>
        </p:nvSpPr>
        <p:spPr>
          <a:xfrm>
            <a:off x="5495544" y="1956816"/>
            <a:ext cx="3172968" cy="0"/>
          </a:xfrm>
          <a:prstGeom prst="line">
            <a:avLst/>
          </a:prstGeom>
          <a:noFill/>
          <a:ln w="12700">
            <a:solidFill>
              <a:srgbClr val="C8B8A2">
                <a:alpha val="46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66360" y="189280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7B6A5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100</a:t>
            </a:r>
            <a:endParaRPr lang="en-US" sz="660" dirty="0"/>
          </a:p>
        </p:txBody>
      </p:sp>
      <p:sp>
        <p:nvSpPr>
          <p:cNvPr id="41" name="Shape 38"/>
          <p:cNvSpPr/>
          <p:nvPr/>
        </p:nvSpPr>
        <p:spPr>
          <a:xfrm>
            <a:off x="5765543" y="3282330"/>
            <a:ext cx="253243" cy="1088502"/>
          </a:xfrm>
          <a:prstGeom prst="rect">
            <a:avLst/>
          </a:prstGeom>
          <a:solidFill>
            <a:srgbClr val="B8201A">
              <a:alpha val="90000"/>
            </a:srgbClr>
          </a:solidFill>
          <a:ln w="12700">
            <a:solidFill>
              <a:srgbClr val="B8201A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655815" y="3044586"/>
            <a:ext cx="4726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11A1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48</a:t>
            </a:r>
            <a:endParaRPr lang="en-US" sz="820" dirty="0"/>
          </a:p>
        </p:txBody>
      </p:sp>
      <p:sp>
        <p:nvSpPr>
          <p:cNvPr id="43" name="Text 40"/>
          <p:cNvSpPr/>
          <p:nvPr/>
        </p:nvSpPr>
        <p:spPr>
          <a:xfrm>
            <a:off x="5522976" y="4498848"/>
            <a:ext cx="738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145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符号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145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识别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6558785" y="2919496"/>
            <a:ext cx="253243" cy="1451336"/>
          </a:xfrm>
          <a:prstGeom prst="rect">
            <a:avLst/>
          </a:prstGeom>
          <a:solidFill>
            <a:srgbClr val="1D1D1B">
              <a:alpha val="90000"/>
            </a:srgbClr>
          </a:solidFill>
          <a:ln w="12700">
            <a:solidFill>
              <a:srgbClr val="1D1D1B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49057" y="2681752"/>
            <a:ext cx="4726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11A1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64</a:t>
            </a:r>
            <a:endParaRPr lang="en-US" sz="820" dirty="0"/>
          </a:p>
        </p:txBody>
      </p:sp>
      <p:sp>
        <p:nvSpPr>
          <p:cNvPr id="46" name="Text 43"/>
          <p:cNvSpPr/>
          <p:nvPr/>
        </p:nvSpPr>
        <p:spPr>
          <a:xfrm>
            <a:off x="6316218" y="4498848"/>
            <a:ext cx="738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145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故事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145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表达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352027" y="2738079"/>
            <a:ext cx="253243" cy="1632753"/>
          </a:xfrm>
          <a:prstGeom prst="rect">
            <a:avLst/>
          </a:prstGeom>
          <a:solidFill>
            <a:srgbClr val="C34F33">
              <a:alpha val="90000"/>
            </a:srgbClr>
          </a:solidFill>
          <a:ln w="12700">
            <a:solidFill>
              <a:srgbClr val="C34F33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242299" y="2500335"/>
            <a:ext cx="4726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11A1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72</a:t>
            </a:r>
            <a:endParaRPr lang="en-US" sz="820" dirty="0"/>
          </a:p>
        </p:txBody>
      </p:sp>
      <p:sp>
        <p:nvSpPr>
          <p:cNvPr id="49" name="Text 46"/>
          <p:cNvSpPr/>
          <p:nvPr/>
        </p:nvSpPr>
        <p:spPr>
          <a:xfrm>
            <a:off x="7109460" y="4498848"/>
            <a:ext cx="738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145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产品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145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转化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8145269" y="2420600"/>
            <a:ext cx="253243" cy="1950232"/>
          </a:xfrm>
          <a:prstGeom prst="rect">
            <a:avLst/>
          </a:prstGeom>
          <a:solidFill>
            <a:srgbClr val="B88A3B">
              <a:alpha val="90000"/>
            </a:srgbClr>
          </a:solidFill>
          <a:ln w="12700">
            <a:solidFill>
              <a:srgbClr val="B88A3B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035541" y="2182856"/>
            <a:ext cx="4726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11A1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86</a:t>
            </a:r>
            <a:endParaRPr lang="en-US" sz="820" dirty="0"/>
          </a:p>
        </p:txBody>
      </p:sp>
      <p:sp>
        <p:nvSpPr>
          <p:cNvPr id="52" name="Text 49"/>
          <p:cNvSpPr/>
          <p:nvPr/>
        </p:nvSpPr>
        <p:spPr>
          <a:xfrm>
            <a:off x="7902702" y="4498848"/>
            <a:ext cx="738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145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社群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145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沉淀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5892165" y="3428634"/>
            <a:ext cx="793242" cy="-362834"/>
          </a:xfrm>
          <a:prstGeom prst="line">
            <a:avLst/>
          </a:prstGeom>
          <a:noFill/>
          <a:ln w="12700">
            <a:solidFill>
              <a:srgbClr val="B8201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685407" y="3065800"/>
            <a:ext cx="793242" cy="-181417"/>
          </a:xfrm>
          <a:prstGeom prst="line">
            <a:avLst/>
          </a:prstGeom>
          <a:noFill/>
          <a:ln w="12700">
            <a:solidFill>
              <a:srgbClr val="B8201A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478649" y="2884383"/>
            <a:ext cx="793242" cy="-317480"/>
          </a:xfrm>
          <a:prstGeom prst="line">
            <a:avLst/>
          </a:prstGeom>
          <a:noFill/>
          <a:ln w="12700">
            <a:solidFill>
              <a:srgbClr val="B8201A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837301" y="337377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201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630543" y="301093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201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423785" y="2829519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201A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217027" y="251204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201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980176" y="4901184"/>
            <a:ext cx="2852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8A7A6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示例数据，仅用于视觉样张</a:t>
            </a:r>
            <a:endParaRPr lang="en-US" sz="520" dirty="0"/>
          </a:p>
        </p:txBody>
      </p:sp>
      <p:sp>
        <p:nvSpPr>
          <p:cNvPr id="61" name="Text 58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E625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1/1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ng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ngti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东方品牌数字化观察</dc:title>
  <dc:subject>传统文化资产进入内容产品化阶段</dc:subject>
  <dc:creator>Codex</dc:creator>
  <cp:lastModifiedBy>Codex</cp:lastModifiedBy>
  <cp:revision>1</cp:revision>
  <dcterms:created xsi:type="dcterms:W3CDTF">2026-05-07T12:42:02Z</dcterms:created>
  <dcterms:modified xsi:type="dcterms:W3CDTF">2026-05-07T12:42:02Z</dcterms:modified>
</cp:coreProperties>
</file>