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w/Desktop/codex-visual-ppt-deck-builder/effect-tests/multi-style-pptx-v2/assets/background-future-te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944" y="749808"/>
            <a:ext cx="48280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2B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pPr indent="0" marL="0">
              <a:buNone/>
            </a:pPr>
            <a:r>
              <a:rPr lang="en-US" sz="290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AI 应用趋势调研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713232" y="148132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从工具试点到组织级智能化</a:t>
            </a:r>
            <a:endParaRPr lang="en-US" sz="1240" dirty="0"/>
          </a:p>
        </p:txBody>
      </p:sp>
      <p:sp>
        <p:nvSpPr>
          <p:cNvPr id="5" name="Text 2"/>
          <p:cNvSpPr/>
          <p:nvPr/>
        </p:nvSpPr>
        <p:spPr>
          <a:xfrm>
            <a:off x="4498848" y="1078992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 AI 应用成熟度指数</a:t>
            </a:r>
            <a:endParaRPr lang="en-US" sz="1180" dirty="0"/>
          </a:p>
        </p:txBody>
      </p:sp>
      <p:sp>
        <p:nvSpPr>
          <p:cNvPr id="6" name="Shape 3"/>
          <p:cNvSpPr/>
          <p:nvPr/>
        </p:nvSpPr>
        <p:spPr>
          <a:xfrm>
            <a:off x="4274729" y="2808122"/>
            <a:ext cx="549189" cy="1635862"/>
          </a:xfrm>
          <a:prstGeom prst="rect">
            <a:avLst/>
          </a:prstGeom>
          <a:solidFill>
            <a:srgbClr val="2BD3FF">
              <a:alpha val="86000"/>
            </a:srgbClr>
          </a:solidFill>
          <a:ln w="12700">
            <a:solidFill>
              <a:srgbClr val="2BD3FF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49323" y="2625242"/>
            <a:ext cx="0" cy="-201168"/>
          </a:xfrm>
          <a:prstGeom prst="line">
            <a:avLst/>
          </a:prstGeom>
          <a:noFill/>
          <a:ln w="12700">
            <a:solidFill>
              <a:srgbClr val="2BD3FF">
                <a:alpha val="8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01577" y="2369210"/>
            <a:ext cx="748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3950208" y="4572000"/>
            <a:ext cx="1248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5522885" y="2507285"/>
            <a:ext cx="549189" cy="1936699"/>
          </a:xfrm>
          <a:prstGeom prst="rect">
            <a:avLst/>
          </a:prstGeom>
          <a:solidFill>
            <a:srgbClr val="4E8DFF">
              <a:alpha val="86000"/>
            </a:srgbClr>
          </a:solidFill>
          <a:ln w="12700">
            <a:solidFill>
              <a:srgbClr val="4E8D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97479" y="2324405"/>
            <a:ext cx="0" cy="-201168"/>
          </a:xfrm>
          <a:prstGeom prst="line">
            <a:avLst/>
          </a:prstGeom>
          <a:noFill/>
          <a:ln w="12700">
            <a:solidFill>
              <a:srgbClr val="4E8DFF">
                <a:alpha val="8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49733" y="2068373"/>
            <a:ext cx="748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5198364" y="4572000"/>
            <a:ext cx="1248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嵌入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6771041" y="2335378"/>
            <a:ext cx="549189" cy="2108606"/>
          </a:xfrm>
          <a:prstGeom prst="rect">
            <a:avLst/>
          </a:prstGeom>
          <a:solidFill>
            <a:srgbClr val="8D6BFF">
              <a:alpha val="86000"/>
            </a:srgbClr>
          </a:solidFill>
          <a:ln w="12700">
            <a:solidFill>
              <a:srgbClr val="8D6BFF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045635" y="2152498"/>
            <a:ext cx="0" cy="-201168"/>
          </a:xfrm>
          <a:prstGeom prst="line">
            <a:avLst/>
          </a:prstGeom>
          <a:noFill/>
          <a:ln w="12700">
            <a:solidFill>
              <a:srgbClr val="8D6BFF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97889" y="1896466"/>
            <a:ext cx="748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76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6446520" y="4572000"/>
            <a:ext cx="1248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治理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8019197" y="2013052"/>
            <a:ext cx="549189" cy="2430932"/>
          </a:xfrm>
          <a:prstGeom prst="rect">
            <a:avLst/>
          </a:prstGeom>
          <a:solidFill>
            <a:srgbClr val="16E0B3">
              <a:alpha val="86000"/>
            </a:srgbClr>
          </a:solidFill>
          <a:ln w="12700">
            <a:solidFill>
              <a:srgbClr val="16E0B3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293791" y="1830172"/>
            <a:ext cx="0" cy="-201168"/>
          </a:xfrm>
          <a:prstGeom prst="line">
            <a:avLst/>
          </a:prstGeom>
          <a:noFill/>
          <a:ln w="12700">
            <a:solidFill>
              <a:srgbClr val="16E0B3">
                <a:alpha val="8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946045" y="1574140"/>
            <a:ext cx="7488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91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7694676" y="4572000"/>
            <a:ext cx="12481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组织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CFE5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133088" y="4956048"/>
            <a:ext cx="4992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" dirty="0">
                <a:solidFill>
                  <a:srgbClr val="8EA6C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示例数据，仅用于视觉样张</a:t>
            </a:r>
            <a:endParaRPr lang="en-US" sz="540" dirty="0"/>
          </a:p>
        </p:txBody>
      </p:sp>
      <p:sp>
        <p:nvSpPr>
          <p:cNvPr id="23" name="Text 20"/>
          <p:cNvSpPr/>
          <p:nvPr/>
        </p:nvSpPr>
        <p:spPr>
          <a:xfrm>
            <a:off x="9646920" y="877824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60" b="1" dirty="0">
                <a:solidFill>
                  <a:srgbClr val="2BD3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68%</a:t>
            </a:r>
            <a:endParaRPr lang="en-US" sz="1760" dirty="0"/>
          </a:p>
        </p:txBody>
      </p:sp>
      <p:sp>
        <p:nvSpPr>
          <p:cNvPr id="24" name="Text 21"/>
          <p:cNvSpPr/>
          <p:nvPr/>
        </p:nvSpPr>
        <p:spPr>
          <a:xfrm>
            <a:off x="9646920" y="122529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8E6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流程嵌入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10716768" y="1481328"/>
            <a:ext cx="530352" cy="0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646920" y="16276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60" b="1" dirty="0">
                <a:solidFill>
                  <a:srgbClr val="8D6B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2.4x</a:t>
            </a:r>
            <a:endParaRPr lang="en-US" sz="1760" dirty="0"/>
          </a:p>
        </p:txBody>
      </p:sp>
      <p:sp>
        <p:nvSpPr>
          <p:cNvPr id="27" name="Text 24"/>
          <p:cNvSpPr/>
          <p:nvPr/>
        </p:nvSpPr>
        <p:spPr>
          <a:xfrm>
            <a:off x="9646920" y="19751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8E6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协同提效</a:t>
            </a:r>
            <a:endParaRPr lang="en-US" sz="680" dirty="0"/>
          </a:p>
        </p:txBody>
      </p:sp>
      <p:sp>
        <p:nvSpPr>
          <p:cNvPr id="28" name="Shape 25"/>
          <p:cNvSpPr/>
          <p:nvPr/>
        </p:nvSpPr>
        <p:spPr>
          <a:xfrm>
            <a:off x="10716768" y="2231136"/>
            <a:ext cx="530352" cy="0"/>
          </a:xfrm>
          <a:prstGeom prst="line">
            <a:avLst/>
          </a:prstGeom>
          <a:noFill/>
          <a:ln w="12700">
            <a:solidFill>
              <a:srgbClr val="8D6B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46920" y="23774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60" b="1" dirty="0">
                <a:solidFill>
                  <a:srgbClr val="16E0B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</a:t>
            </a:r>
            <a:endParaRPr lang="en-US" sz="1760" dirty="0"/>
          </a:p>
        </p:txBody>
      </p:sp>
      <p:sp>
        <p:nvSpPr>
          <p:cNvPr id="30" name="Text 27"/>
          <p:cNvSpPr/>
          <p:nvPr/>
        </p:nvSpPr>
        <p:spPr>
          <a:xfrm>
            <a:off x="9646920" y="272491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D8E6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规模窗口</a:t>
            </a:r>
            <a:endParaRPr lang="en-US" sz="680" dirty="0"/>
          </a:p>
        </p:txBody>
      </p:sp>
      <p:sp>
        <p:nvSpPr>
          <p:cNvPr id="31" name="Shape 28"/>
          <p:cNvSpPr/>
          <p:nvPr/>
        </p:nvSpPr>
        <p:spPr>
          <a:xfrm>
            <a:off x="10716768" y="2980944"/>
            <a:ext cx="530352" cy="0"/>
          </a:xfrm>
          <a:prstGeom prst="line">
            <a:avLst/>
          </a:prstGeom>
          <a:noFill/>
          <a:ln w="12700">
            <a:solidFill>
              <a:srgbClr val="16E0B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9808" y="5212080"/>
            <a:ext cx="6812280" cy="0"/>
          </a:xfrm>
          <a:prstGeom prst="line">
            <a:avLst/>
          </a:prstGeom>
          <a:noFill/>
          <a:ln w="12700">
            <a:solidFill>
              <a:srgbClr val="456B9D">
                <a:alpha val="7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49808" y="5358384"/>
            <a:ext cx="420624" cy="0"/>
          </a:xfrm>
          <a:prstGeom prst="line">
            <a:avLst/>
          </a:prstGeom>
          <a:noFill/>
          <a:ln w="12700">
            <a:solidFill>
              <a:srgbClr val="2BD3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9808" y="5522976"/>
            <a:ext cx="2106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应用从单点工具转向业务流程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749808" y="5797296"/>
            <a:ext cx="204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8C8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开始进入客服、营销、研发、知识库等连续链路，价值不再停留在个人提效。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3020568" y="5358384"/>
            <a:ext cx="420624" cy="0"/>
          </a:xfrm>
          <a:prstGeom prst="line">
            <a:avLst/>
          </a:prstGeom>
          <a:noFill/>
          <a:ln w="12700">
            <a:solidFill>
              <a:srgbClr val="8D6B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20568" y="5522976"/>
            <a:ext cx="2106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数据与治理成为商业化分水岭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3020568" y="5797296"/>
            <a:ext cx="204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8C8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权限、审查、知识沉淀和指标口径决定 AI 能否被稳定复制到更多团队。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5291328" y="5358384"/>
            <a:ext cx="420624" cy="0"/>
          </a:xfrm>
          <a:prstGeom prst="line">
            <a:avLst/>
          </a:prstGeom>
          <a:noFill/>
          <a:ln w="12700">
            <a:solidFill>
              <a:srgbClr val="16E0B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291328" y="5522976"/>
            <a:ext cx="2106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5F9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管理层关注从热度转向回报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5291328" y="5797296"/>
            <a:ext cx="204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B8C8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年的关键问题会变成周期缩短、质量稳定和组织学习速度。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10881360" y="645566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FC0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1/1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</dc:title>
  <dc:subject>企业级智能化进入规模落地窗口</dc:subject>
  <dc:creator>Codex</dc:creator>
  <cp:lastModifiedBy>Codex</cp:lastModifiedBy>
  <cp:revision>1</cp:revision>
  <dcterms:created xsi:type="dcterms:W3CDTF">2026-05-07T14:44:43Z</dcterms:created>
  <dcterms:modified xsi:type="dcterms:W3CDTF">2026-05-07T14:44:43Z</dcterms:modified>
</cp:coreProperties>
</file>