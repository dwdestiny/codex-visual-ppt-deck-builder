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multi-style-pptx-v2/assets/background-minimal-busi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58368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pPr indent="0" marL="0">
              <a:buNone/>
            </a:pPr>
            <a:r>
              <a:rPr lang="en-US" sz="280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AI 组织效率调研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76656" y="12984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3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从工具采购到流程重构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49808" y="19202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007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31%</a:t>
            </a:r>
            <a:endParaRPr lang="en-US" sz="1880" dirty="0"/>
          </a:p>
        </p:txBody>
      </p:sp>
      <p:sp>
        <p:nvSpPr>
          <p:cNvPr id="6" name="Shape 3"/>
          <p:cNvSpPr/>
          <p:nvPr/>
        </p:nvSpPr>
        <p:spPr>
          <a:xfrm>
            <a:off x="1828800" y="2084832"/>
            <a:ext cx="914400" cy="0"/>
          </a:xfrm>
          <a:prstGeom prst="line">
            <a:avLst/>
          </a:prstGeom>
          <a:noFill/>
          <a:ln w="12700">
            <a:solidFill>
              <a:srgbClr val="007A78">
                <a:alpha val="8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71216" y="19751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F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周期下降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749808" y="24505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3D6F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2.1x</a:t>
            </a:r>
            <a:endParaRPr lang="en-US" sz="1880" dirty="0"/>
          </a:p>
        </p:txBody>
      </p:sp>
      <p:sp>
        <p:nvSpPr>
          <p:cNvPr id="9" name="Shape 6"/>
          <p:cNvSpPr/>
          <p:nvPr/>
        </p:nvSpPr>
        <p:spPr>
          <a:xfrm>
            <a:off x="1828800" y="2615184"/>
            <a:ext cx="1133856" cy="0"/>
          </a:xfrm>
          <a:prstGeom prst="line">
            <a:avLst/>
          </a:prstGeom>
          <a:noFill/>
          <a:ln w="12700">
            <a:solidFill>
              <a:srgbClr val="3D6F73">
                <a:alpha val="8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71216" y="2505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F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知识复用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749808" y="29809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80" b="1" dirty="0">
                <a:solidFill>
                  <a:srgbClr val="B38E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80" dirty="0"/>
          </a:p>
        </p:txBody>
      </p:sp>
      <p:sp>
        <p:nvSpPr>
          <p:cNvPr id="12" name="Shape 9"/>
          <p:cNvSpPr/>
          <p:nvPr/>
        </p:nvSpPr>
        <p:spPr>
          <a:xfrm>
            <a:off x="1828800" y="3145536"/>
            <a:ext cx="1353312" cy="0"/>
          </a:xfrm>
          <a:prstGeom prst="line">
            <a:avLst/>
          </a:prstGeom>
          <a:noFill/>
          <a:ln w="12700">
            <a:solidFill>
              <a:srgbClr val="B38E52">
                <a:alpha val="8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71216" y="3035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F4D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规模窗口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6144768" y="8412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 AI 成熟度指数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5870448" y="3145536"/>
            <a:ext cx="4983480" cy="0"/>
          </a:xfrm>
          <a:prstGeom prst="line">
            <a:avLst/>
          </a:prstGeom>
          <a:noFill/>
          <a:ln w="12700">
            <a:solidFill>
              <a:srgbClr val="B9C2C4">
                <a:alpha val="6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62188" y="1444752"/>
            <a:ext cx="0" cy="3401568"/>
          </a:xfrm>
          <a:prstGeom prst="line">
            <a:avLst/>
          </a:prstGeom>
          <a:noFill/>
          <a:ln w="12700">
            <a:solidFill>
              <a:srgbClr val="B9C2C4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0488" y="17739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7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50024" y="1865376"/>
            <a:ext cx="109728" cy="109728"/>
          </a:xfrm>
          <a:prstGeom prst="ellipse">
            <a:avLst/>
          </a:prstGeom>
          <a:solidFill>
            <a:srgbClr val="007A78">
              <a:alpha val="95000"/>
            </a:srgbClr>
          </a:solidFill>
          <a:ln w="12700">
            <a:solidFill>
              <a:srgbClr val="007A7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0488" y="2194560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 / 试点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8682228" y="17739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F87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67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541764" y="1865376"/>
            <a:ext cx="109728" cy="109728"/>
          </a:xfrm>
          <a:prstGeom prst="ellipse">
            <a:avLst/>
          </a:prstGeom>
          <a:solidFill>
            <a:srgbClr val="3F8788">
              <a:alpha val="95000"/>
            </a:srgbClr>
          </a:solidFill>
          <a:ln w="12700">
            <a:solidFill>
              <a:srgbClr val="3F878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2228" y="2194560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 / 嵌入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6190488" y="3474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7D9A8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78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050024" y="3566160"/>
            <a:ext cx="109728" cy="109728"/>
          </a:xfrm>
          <a:prstGeom prst="ellipse">
            <a:avLst/>
          </a:prstGeom>
          <a:solidFill>
            <a:srgbClr val="7D9A8F">
              <a:alpha val="95000"/>
            </a:srgbClr>
          </a:solidFill>
          <a:ln w="12700">
            <a:solidFill>
              <a:srgbClr val="7D9A8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0488" y="3895344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 / 治理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8682228" y="3474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38E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541764" y="3566160"/>
            <a:ext cx="109728" cy="109728"/>
          </a:xfrm>
          <a:prstGeom prst="ellipse">
            <a:avLst/>
          </a:prstGeom>
          <a:solidFill>
            <a:srgbClr val="B38E52">
              <a:alpha val="95000"/>
            </a:srgbClr>
          </a:solidFill>
          <a:ln w="12700">
            <a:solidFill>
              <a:srgbClr val="B38E52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2228" y="3895344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4858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 / 扩展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5870448" y="4992624"/>
            <a:ext cx="4983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7382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示例数据，仅用于视觉样张</a:t>
            </a:r>
            <a:endParaRPr lang="en-US" sz="550" dirty="0"/>
          </a:p>
        </p:txBody>
      </p:sp>
      <p:sp>
        <p:nvSpPr>
          <p:cNvPr id="30" name="Shape 27"/>
          <p:cNvSpPr/>
          <p:nvPr/>
        </p:nvSpPr>
        <p:spPr>
          <a:xfrm>
            <a:off x="713232" y="4059936"/>
            <a:ext cx="4983480" cy="0"/>
          </a:xfrm>
          <a:prstGeom prst="line">
            <a:avLst/>
          </a:prstGeom>
          <a:noFill/>
          <a:ln w="12700">
            <a:solidFill>
              <a:srgbClr val="AEBABC">
                <a:alpha val="6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4224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07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1124712" y="4206240"/>
            <a:ext cx="113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管理口径从成本转向产出</a:t>
            </a:r>
            <a:endParaRPr lang="en-US" sz="1220" dirty="0"/>
          </a:p>
        </p:txBody>
      </p:sp>
      <p:sp>
        <p:nvSpPr>
          <p:cNvPr id="33" name="Text 30"/>
          <p:cNvSpPr/>
          <p:nvPr/>
        </p:nvSpPr>
        <p:spPr>
          <a:xfrm>
            <a:off x="713232" y="4608576"/>
            <a:ext cx="1459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项目开始用周期缩短、交付质量和知识沉淀来衡量，而不再只看工具覆盖率。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2374392" y="4224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5A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30" dirty="0"/>
          </a:p>
        </p:txBody>
      </p:sp>
      <p:sp>
        <p:nvSpPr>
          <p:cNvPr id="35" name="Text 32"/>
          <p:cNvSpPr/>
          <p:nvPr/>
        </p:nvSpPr>
        <p:spPr>
          <a:xfrm>
            <a:off x="2785872" y="4206240"/>
            <a:ext cx="113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流程嵌入决定复利速度</a:t>
            </a:r>
            <a:endParaRPr lang="en-US" sz="1220" dirty="0"/>
          </a:p>
        </p:txBody>
      </p:sp>
      <p:sp>
        <p:nvSpPr>
          <p:cNvPr id="36" name="Text 33"/>
          <p:cNvSpPr/>
          <p:nvPr/>
        </p:nvSpPr>
        <p:spPr>
          <a:xfrm>
            <a:off x="2374392" y="4608576"/>
            <a:ext cx="1459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真正拉开差距的是把 AI 放进审批、客服、研发和内容生产的连续动作里。</a:t>
            </a:r>
            <a:endParaRPr lang="en-US" sz="860" dirty="0"/>
          </a:p>
        </p:txBody>
      </p:sp>
      <p:sp>
        <p:nvSpPr>
          <p:cNvPr id="37" name="Text 34"/>
          <p:cNvSpPr/>
          <p:nvPr/>
        </p:nvSpPr>
        <p:spPr>
          <a:xfrm>
            <a:off x="4035552" y="42245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B38E5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30" dirty="0"/>
          </a:p>
        </p:txBody>
      </p:sp>
      <p:sp>
        <p:nvSpPr>
          <p:cNvPr id="38" name="Text 35"/>
          <p:cNvSpPr/>
          <p:nvPr/>
        </p:nvSpPr>
        <p:spPr>
          <a:xfrm>
            <a:off x="4447032" y="4206240"/>
            <a:ext cx="1130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252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治理能力成为扩张前提</a:t>
            </a:r>
            <a:endParaRPr lang="en-US" sz="1220" dirty="0"/>
          </a:p>
        </p:txBody>
      </p:sp>
      <p:sp>
        <p:nvSpPr>
          <p:cNvPr id="39" name="Text 36"/>
          <p:cNvSpPr/>
          <p:nvPr/>
        </p:nvSpPr>
        <p:spPr>
          <a:xfrm>
            <a:off x="4035552" y="4608576"/>
            <a:ext cx="1459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E6E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权限、审查、来源记录和复盘机制会决定组织能否稳定复制经验。</a:t>
            </a:r>
            <a:endParaRPr lang="en-US" sz="860" dirty="0"/>
          </a:p>
        </p:txBody>
      </p:sp>
      <p:sp>
        <p:nvSpPr>
          <p:cNvPr id="40" name="Text 37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666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组织效率调研</dc:title>
  <dc:subject>从工具采购到流程重构</dc:subject>
  <dc:creator>Codex</dc:creator>
  <cp:lastModifiedBy>Codex</cp:lastModifiedBy>
  <cp:revision>1</cp:revision>
  <dcterms:created xsi:type="dcterms:W3CDTF">2026-05-07T14:31:45Z</dcterms:created>
  <dcterms:modified xsi:type="dcterms:W3CDTF">2026-05-07T14:31:45Z</dcterms:modified>
</cp:coreProperties>
</file>